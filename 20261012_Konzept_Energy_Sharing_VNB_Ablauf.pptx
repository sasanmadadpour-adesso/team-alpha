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5175"/>
  <p:notesSz cx="6858000" cy="9144000"/>
  <p:embeddedFontLst>
    <p:embeddedFont>
      <p:font typeface="Quattrocento Sans"/>
      <p:regular r:id="rId14"/>
      <p:bold r:id="rId15"/>
      <p:italic r:id="rId16"/>
      <p:boldItalic r:id="rId17"/>
    </p:embeddedFont>
    <p:embeddedFont>
      <p:font typeface="Fira Sans Condensed"/>
      <p:regular r:id="rId18"/>
      <p:bold r:id="rId19"/>
      <p:italic r:id="rId20"/>
      <p:boldItalic r:id="rId21"/>
    </p:embeddedFont>
    <p:embeddedFont>
      <p:font typeface="Fira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748">
          <p15:clr>
            <a:srgbClr val="A4A3A4"/>
          </p15:clr>
        </p15:guide>
        <p15:guide id="2" orient="horz" pos="1230">
          <p15:clr>
            <a:srgbClr val="A4A3A4"/>
          </p15:clr>
        </p15:guide>
        <p15:guide id="3" pos="462">
          <p15:clr>
            <a:srgbClr val="A4A3A4"/>
          </p15:clr>
        </p15:guide>
        <p15:guide id="4" pos="7220">
          <p15:clr>
            <a:srgbClr val="A4A3A4"/>
          </p15:clr>
        </p15:guide>
        <p15:guide id="5" pos="3841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DA1FDB-DC14-4C0F-8C61-565A1AC76FD4}">
  <a:tblStyle styleId="{EDDA1FDB-DC14-4C0F-8C61-565A1AC76FD4}" styleName="Table_0">
    <a:wholeTbl>
      <a:tcTxStyle b="off" i="off">
        <a:font>
          <a:latin typeface="Fira Sans"/>
          <a:ea typeface="Fira Sans"/>
          <a:cs typeface="Fira Sans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Fira Sans"/>
          <a:ea typeface="Fira Sans"/>
          <a:cs typeface="Fira Sans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748" orient="horz"/>
        <p:guide pos="1230" orient="horz"/>
        <p:guide pos="462"/>
        <p:guide pos="7220"/>
        <p:guide pos="3841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Condensed-italic.fntdata"/><Relationship Id="rId22" Type="http://schemas.openxmlformats.org/officeDocument/2006/relationships/font" Target="fonts/FiraSans-regular.fntdata"/><Relationship Id="rId21" Type="http://schemas.openxmlformats.org/officeDocument/2006/relationships/font" Target="fonts/FiraSansCondensed-boldItalic.fntdata"/><Relationship Id="rId24" Type="http://schemas.openxmlformats.org/officeDocument/2006/relationships/font" Target="fonts/FiraSans-italic.fntdata"/><Relationship Id="rId23" Type="http://schemas.openxmlformats.org/officeDocument/2006/relationships/font" Target="fonts/Fira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Fira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QuattrocentoSans-bold.fntdata"/><Relationship Id="rId14" Type="http://schemas.openxmlformats.org/officeDocument/2006/relationships/font" Target="fonts/QuattrocentoSans-regular.fntdata"/><Relationship Id="rId17" Type="http://schemas.openxmlformats.org/officeDocument/2006/relationships/font" Target="fonts/QuattrocentoSans-boldItalic.fntdata"/><Relationship Id="rId16" Type="http://schemas.openxmlformats.org/officeDocument/2006/relationships/font" Target="fonts/QuattrocentoSans-italic.fntdata"/><Relationship Id="rId19" Type="http://schemas.openxmlformats.org/officeDocument/2006/relationships/font" Target="fonts/FiraSansCondensed-bold.fntdata"/><Relationship Id="rId18" Type="http://schemas.openxmlformats.org/officeDocument/2006/relationships/font" Target="fonts/FiraSansCondense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‒"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‒"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048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‒"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048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‒"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048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‒"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DE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h7c074667ae2595c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h7c074667ae2595c5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HITE">
  <p:cSld name="Title Only WHIT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1055962" y="512676"/>
            <a:ext cx="1073079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Fira Sans Condense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08106" y="6453000"/>
            <a:ext cx="3600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1055962" y="6453000"/>
            <a:ext cx="49692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0" type="dt"/>
          </p:nvPr>
        </p:nvSpPr>
        <p:spPr>
          <a:xfrm>
            <a:off x="6493814" y="6453000"/>
            <a:ext cx="7201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323">
          <p15:clr>
            <a:srgbClr val="F26B43"/>
          </p15:clr>
        </p15:guide>
        <p15:guide id="2" pos="665">
          <p15:clr>
            <a:srgbClr val="F26B43"/>
          </p15:clr>
        </p15:guide>
        <p15:guide id="3" pos="257">
          <p15:clr>
            <a:srgbClr val="A4A3A4"/>
          </p15:clr>
        </p15:guide>
        <p15:guide id="4" pos="7423">
          <p15:clr>
            <a:srgbClr val="F26B43"/>
          </p15:clr>
        </p15:guide>
        <p15:guide id="5" orient="horz" pos="1117">
          <p15:clr>
            <a:srgbClr val="F26B43"/>
          </p15:clr>
        </p15:guide>
        <p15:guide id="6" orient="horz" pos="3883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/Outro" showMasterSp="0">
  <p:cSld name="Intro/Outro">
    <p:bg>
      <p:bgPr>
        <a:solidFill>
          <a:schemeClr val="dk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4498992" y="2637000"/>
            <a:ext cx="3197192" cy="120617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slide" showMasterSp="0">
  <p:cSld name="Titleslid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768201" y="1269000"/>
            <a:ext cx="8282906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ira Sans Condensed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768202" y="3213000"/>
            <a:ext cx="8282905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body"/>
          </p:nvPr>
        </p:nvSpPr>
        <p:spPr>
          <a:xfrm>
            <a:off x="768550" y="6381100"/>
            <a:ext cx="828255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9" name="Google Shape;29;p4"/>
          <p:cNvSpPr/>
          <p:nvPr/>
        </p:nvSpPr>
        <p:spPr>
          <a:xfrm>
            <a:off x="9948490" y="366900"/>
            <a:ext cx="1980516" cy="781224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4"/>
          <p:cNvSpPr/>
          <p:nvPr/>
        </p:nvSpPr>
        <p:spPr>
          <a:xfrm>
            <a:off x="408106" y="6481980"/>
            <a:ext cx="216056" cy="98743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4"/>
          <p:cNvSpPr txBox="1"/>
          <p:nvPr>
            <p:ph idx="3" type="body"/>
          </p:nvPr>
        </p:nvSpPr>
        <p:spPr>
          <a:xfrm>
            <a:off x="10922844" y="5445000"/>
            <a:ext cx="720188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slide BLUE" showMasterSp="0">
  <p:cSld name="Titleslide BLUE">
    <p:bg>
      <p:bgPr>
        <a:solidFill>
          <a:schemeClr val="dk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768201" y="1269000"/>
            <a:ext cx="8282906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Sans Condensed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subTitle"/>
          </p:nvPr>
        </p:nvSpPr>
        <p:spPr>
          <a:xfrm>
            <a:off x="768202" y="3213000"/>
            <a:ext cx="8282905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768550" y="6381100"/>
            <a:ext cx="828255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6" name="Google Shape;36;p5"/>
          <p:cNvSpPr/>
          <p:nvPr/>
        </p:nvSpPr>
        <p:spPr>
          <a:xfrm>
            <a:off x="408106" y="6481980"/>
            <a:ext cx="216056" cy="98743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5"/>
          <p:cNvSpPr/>
          <p:nvPr/>
        </p:nvSpPr>
        <p:spPr>
          <a:xfrm>
            <a:off x="9948490" y="366900"/>
            <a:ext cx="1980516" cy="781224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5"/>
          <p:cNvSpPr txBox="1"/>
          <p:nvPr>
            <p:ph idx="3" type="body"/>
          </p:nvPr>
        </p:nvSpPr>
        <p:spPr>
          <a:xfrm>
            <a:off x="10922844" y="5445000"/>
            <a:ext cx="720188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slide GRADIENT" showMasterSp="0">
  <p:cSld name="Titleslide GRADI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51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 txBox="1"/>
          <p:nvPr>
            <p:ph type="title"/>
          </p:nvPr>
        </p:nvSpPr>
        <p:spPr>
          <a:xfrm>
            <a:off x="768201" y="1269000"/>
            <a:ext cx="8282906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Sans Condensed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768202" y="3213000"/>
            <a:ext cx="8282905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768550" y="6381100"/>
            <a:ext cx="828255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4" name="Google Shape;44;p6"/>
          <p:cNvSpPr/>
          <p:nvPr/>
        </p:nvSpPr>
        <p:spPr>
          <a:xfrm>
            <a:off x="9948490" y="366900"/>
            <a:ext cx="1980516" cy="781224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6"/>
          <p:cNvSpPr txBox="1"/>
          <p:nvPr>
            <p:ph idx="3" type="body"/>
          </p:nvPr>
        </p:nvSpPr>
        <p:spPr>
          <a:xfrm>
            <a:off x="408094" y="6481979"/>
            <a:ext cx="215956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10922844" y="5445000"/>
            <a:ext cx="720188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slide Picture BRIGHT" showMasterSp="0">
  <p:cSld name="Titleslide Picture BRIGH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>
            <p:ph idx="2" type="pic"/>
          </p:nvPr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0" y="3717000"/>
            <a:ext cx="12195175" cy="3141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9pPr>
          </a:lstStyle>
          <a:p/>
        </p:txBody>
      </p:sp>
      <p:sp>
        <p:nvSpPr>
          <p:cNvPr id="50" name="Google Shape;50;p7"/>
          <p:cNvSpPr txBox="1"/>
          <p:nvPr>
            <p:ph type="title"/>
          </p:nvPr>
        </p:nvSpPr>
        <p:spPr>
          <a:xfrm>
            <a:off x="768201" y="1269000"/>
            <a:ext cx="8282906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ira Sans Condensed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3" type="subTitle"/>
          </p:nvPr>
        </p:nvSpPr>
        <p:spPr>
          <a:xfrm>
            <a:off x="768202" y="3213000"/>
            <a:ext cx="8282905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768550" y="6381100"/>
            <a:ext cx="828255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9948490" y="366900"/>
            <a:ext cx="1980516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54" name="Google Shape;54;p7"/>
          <p:cNvSpPr txBox="1"/>
          <p:nvPr>
            <p:ph idx="6" type="body"/>
          </p:nvPr>
        </p:nvSpPr>
        <p:spPr>
          <a:xfrm>
            <a:off x="10922844" y="5445000"/>
            <a:ext cx="720188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08094" y="6481979"/>
            <a:ext cx="215956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slide Picture DARK" showMasterSp="0">
  <p:cSld name="Titleslide Picture DAR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/>
          <p:nvPr>
            <p:ph idx="2" type="pic"/>
          </p:nvPr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0" y="3717001"/>
            <a:ext cx="12195175" cy="31410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3pPr>
            <a:lvl4pPr indent="-3429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/>
            </a:lvl6pPr>
            <a:lvl7pPr indent="-3429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7pPr>
            <a:lvl8pPr indent="-3429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8pPr>
            <a:lvl9pPr indent="-3429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type="title"/>
          </p:nvPr>
        </p:nvSpPr>
        <p:spPr>
          <a:xfrm>
            <a:off x="768201" y="1269000"/>
            <a:ext cx="8282906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Sans Condensed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subTitle"/>
          </p:nvPr>
        </p:nvSpPr>
        <p:spPr>
          <a:xfrm>
            <a:off x="768202" y="3213000"/>
            <a:ext cx="8282905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0" sz="2400">
                <a:solidFill>
                  <a:schemeClr val="lt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768550" y="6381100"/>
            <a:ext cx="8282557" cy="2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Fira Sans"/>
              <a:buNone/>
              <a:defRPr b="0" sz="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948490" y="366900"/>
            <a:ext cx="1980516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10922844" y="5445000"/>
            <a:ext cx="720188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64" name="Google Shape;64;p8"/>
          <p:cNvSpPr txBox="1"/>
          <p:nvPr>
            <p:ph idx="7" type="body"/>
          </p:nvPr>
        </p:nvSpPr>
        <p:spPr>
          <a:xfrm>
            <a:off x="408094" y="6481979"/>
            <a:ext cx="215956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1055962" y="512676"/>
            <a:ext cx="1073079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Fira Sans Condense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6493814" y="6453000"/>
            <a:ext cx="7201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1055962" y="6453000"/>
            <a:ext cx="49692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408106" y="6453000"/>
            <a:ext cx="3600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1055963" y="1773238"/>
            <a:ext cx="10730794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Fira Sans Condensed"/>
              <a:buAutoNum type="arabicPeriod"/>
              <a:defRPr b="1"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600"/>
              <a:buFont typeface="Fira Sans Condensed"/>
              <a:buNone/>
              <a:defRPr b="1" sz="16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b="0"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23">
          <p15:clr>
            <a:srgbClr val="F26B43"/>
          </p15:clr>
        </p15:guide>
        <p15:guide id="6" pos="257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ernative">
  <p:cSld name="Agenda alternativ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1055962" y="512676"/>
            <a:ext cx="1073079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Fira Sans Condense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0" type="dt"/>
          </p:nvPr>
        </p:nvSpPr>
        <p:spPr>
          <a:xfrm>
            <a:off x="6493814" y="6453000"/>
            <a:ext cx="7201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1" type="ftr"/>
          </p:nvPr>
        </p:nvSpPr>
        <p:spPr>
          <a:xfrm>
            <a:off x="1055962" y="6453000"/>
            <a:ext cx="49692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408106" y="6453000"/>
            <a:ext cx="3600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1056129" y="1773474"/>
            <a:ext cx="648169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2" type="body"/>
          </p:nvPr>
        </p:nvSpPr>
        <p:spPr>
          <a:xfrm>
            <a:off x="1776396" y="1773000"/>
            <a:ext cx="46092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b="1" sz="1800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3" type="body"/>
          </p:nvPr>
        </p:nvSpPr>
        <p:spPr>
          <a:xfrm>
            <a:off x="1056129" y="2853474"/>
            <a:ext cx="648169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4" type="body"/>
          </p:nvPr>
        </p:nvSpPr>
        <p:spPr>
          <a:xfrm>
            <a:off x="1776396" y="2853000"/>
            <a:ext cx="46092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b="1" sz="1800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0"/>
          <p:cNvSpPr txBox="1"/>
          <p:nvPr>
            <p:ph idx="5" type="body"/>
          </p:nvPr>
        </p:nvSpPr>
        <p:spPr>
          <a:xfrm>
            <a:off x="1056275" y="3933474"/>
            <a:ext cx="648169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1" name="Google Shape;81;p10"/>
          <p:cNvSpPr txBox="1"/>
          <p:nvPr>
            <p:ph idx="6" type="body"/>
          </p:nvPr>
        </p:nvSpPr>
        <p:spPr>
          <a:xfrm>
            <a:off x="1776543" y="3933000"/>
            <a:ext cx="46092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b="1" sz="1800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7" type="body"/>
          </p:nvPr>
        </p:nvSpPr>
        <p:spPr>
          <a:xfrm>
            <a:off x="1056421" y="5013474"/>
            <a:ext cx="648169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8" type="body"/>
          </p:nvPr>
        </p:nvSpPr>
        <p:spPr>
          <a:xfrm>
            <a:off x="1776689" y="5013000"/>
            <a:ext cx="46092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b="1" sz="1800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0"/>
          <p:cNvSpPr txBox="1"/>
          <p:nvPr>
            <p:ph idx="9" type="body"/>
          </p:nvPr>
        </p:nvSpPr>
        <p:spPr>
          <a:xfrm>
            <a:off x="6457535" y="1773474"/>
            <a:ext cx="648169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5" name="Google Shape;85;p10"/>
          <p:cNvSpPr txBox="1"/>
          <p:nvPr>
            <p:ph idx="13" type="body"/>
          </p:nvPr>
        </p:nvSpPr>
        <p:spPr>
          <a:xfrm>
            <a:off x="7177803" y="1773000"/>
            <a:ext cx="46092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b="1" sz="1800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14" type="body"/>
          </p:nvPr>
        </p:nvSpPr>
        <p:spPr>
          <a:xfrm>
            <a:off x="6457681" y="2853474"/>
            <a:ext cx="648169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15" type="body"/>
          </p:nvPr>
        </p:nvSpPr>
        <p:spPr>
          <a:xfrm>
            <a:off x="7177949" y="2853000"/>
            <a:ext cx="46092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b="1" sz="1800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idx="16" type="body"/>
          </p:nvPr>
        </p:nvSpPr>
        <p:spPr>
          <a:xfrm>
            <a:off x="6457827" y="3933474"/>
            <a:ext cx="648169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9" name="Google Shape;89;p10"/>
          <p:cNvSpPr txBox="1"/>
          <p:nvPr>
            <p:ph idx="17" type="body"/>
          </p:nvPr>
        </p:nvSpPr>
        <p:spPr>
          <a:xfrm>
            <a:off x="7178095" y="3933000"/>
            <a:ext cx="46092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b="1" sz="1800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18" type="body"/>
          </p:nvPr>
        </p:nvSpPr>
        <p:spPr>
          <a:xfrm>
            <a:off x="6457973" y="5013474"/>
            <a:ext cx="648169" cy="4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Fira Sans"/>
              <a:buNone/>
              <a:defRPr b="1" sz="360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19" type="body"/>
          </p:nvPr>
        </p:nvSpPr>
        <p:spPr>
          <a:xfrm>
            <a:off x="7178241" y="5013000"/>
            <a:ext cx="4609266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44000" wrap="square" tIns="82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b="1" sz="1800">
                <a:latin typeface="Fira Sans"/>
                <a:ea typeface="Fira Sans"/>
                <a:cs typeface="Fira Sans"/>
                <a:sym typeface="Fir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None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Fira Sans"/>
              <a:buChar char="&gt;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−"/>
              <a:defRPr b="0" sz="1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23">
          <p15:clr>
            <a:srgbClr val="F26B43"/>
          </p15:clr>
        </p15:guide>
        <p15:guide id="6" pos="257">
          <p15:clr>
            <a:srgbClr val="A4A3A4"/>
          </p15:clr>
        </p15:guide>
        <p15:guide id="7" pos="4067">
          <p15:clr>
            <a:srgbClr val="F26B43"/>
          </p15:clr>
        </p15:guide>
        <p15:guide id="8" pos="4021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HITE">
  <p:cSld name="Section Header WHIT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5737494" y="6309000"/>
            <a:ext cx="1080281" cy="5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762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" name="Google Shape;94;p11"/>
          <p:cNvSpPr/>
          <p:nvPr/>
        </p:nvSpPr>
        <p:spPr>
          <a:xfrm>
            <a:off x="0" y="0"/>
            <a:ext cx="1872488" cy="9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1055963" y="1268900"/>
            <a:ext cx="8858968" cy="2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ira Sans Condensed"/>
              <a:buNone/>
              <a:defRPr sz="5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1055963" y="3428912"/>
            <a:ext cx="8858968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None/>
              <a:defRPr b="0" sz="4600"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Font typeface="Fira Sans"/>
              <a:buNone/>
              <a:defRPr b="0" sz="4600">
                <a:solidFill>
                  <a:schemeClr val="dk2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12" type="sldNum"/>
          </p:nvPr>
        </p:nvSpPr>
        <p:spPr>
          <a:xfrm>
            <a:off x="408106" y="6453000"/>
            <a:ext cx="3600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8" name="Google Shape;98;p11"/>
          <p:cNvSpPr txBox="1"/>
          <p:nvPr>
            <p:ph idx="11" type="ftr"/>
          </p:nvPr>
        </p:nvSpPr>
        <p:spPr>
          <a:xfrm>
            <a:off x="1055962" y="6453000"/>
            <a:ext cx="49692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0" type="dt"/>
          </p:nvPr>
        </p:nvSpPr>
        <p:spPr>
          <a:xfrm>
            <a:off x="6493814" y="6453000"/>
            <a:ext cx="7201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10634769" y="4761000"/>
            <a:ext cx="756197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101" name="Google Shape;101;p11"/>
          <p:cNvSpPr txBox="1"/>
          <p:nvPr>
            <p:ph idx="3" type="body"/>
          </p:nvPr>
        </p:nvSpPr>
        <p:spPr>
          <a:xfrm>
            <a:off x="6157603" y="6481979"/>
            <a:ext cx="215956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GRADIENT">
  <p:cSld name="Section Header GRADIEN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51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2"/>
          <p:cNvSpPr txBox="1"/>
          <p:nvPr>
            <p:ph type="title"/>
          </p:nvPr>
        </p:nvSpPr>
        <p:spPr>
          <a:xfrm>
            <a:off x="1055963" y="1268900"/>
            <a:ext cx="8858968" cy="2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Sans Condensed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" type="body"/>
          </p:nvPr>
        </p:nvSpPr>
        <p:spPr>
          <a:xfrm>
            <a:off x="1055963" y="3429000"/>
            <a:ext cx="8858968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b="0" sz="4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Font typeface="Fira Sans"/>
              <a:buNone/>
              <a:defRPr b="0" sz="4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12" type="sldNum"/>
          </p:nvPr>
        </p:nvSpPr>
        <p:spPr>
          <a:xfrm>
            <a:off x="408106" y="6453000"/>
            <a:ext cx="3600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7" name="Google Shape;107;p12"/>
          <p:cNvSpPr txBox="1"/>
          <p:nvPr>
            <p:ph idx="11" type="ftr"/>
          </p:nvPr>
        </p:nvSpPr>
        <p:spPr>
          <a:xfrm>
            <a:off x="1055962" y="6453000"/>
            <a:ext cx="49692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0" type="dt"/>
          </p:nvPr>
        </p:nvSpPr>
        <p:spPr>
          <a:xfrm>
            <a:off x="6493814" y="6453000"/>
            <a:ext cx="7201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2" type="body"/>
          </p:nvPr>
        </p:nvSpPr>
        <p:spPr>
          <a:xfrm>
            <a:off x="6157603" y="6481979"/>
            <a:ext cx="215956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  <p:sp>
        <p:nvSpPr>
          <p:cNvPr id="110" name="Google Shape;110;p12"/>
          <p:cNvSpPr txBox="1"/>
          <p:nvPr>
            <p:ph idx="3" type="body"/>
          </p:nvPr>
        </p:nvSpPr>
        <p:spPr>
          <a:xfrm>
            <a:off x="10634769" y="4761000"/>
            <a:ext cx="756197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111" name="Google Shape;111;p12"/>
          <p:cNvSpPr txBox="1"/>
          <p:nvPr>
            <p:ph idx="4" type="body"/>
          </p:nvPr>
        </p:nvSpPr>
        <p:spPr>
          <a:xfrm>
            <a:off x="11326149" y="6414338"/>
            <a:ext cx="532939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Picture BRIGHT">
  <p:cSld name="Section Header Picture BRIGH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/>
          <p:nvPr>
            <p:ph idx="2" type="pic"/>
          </p:nvPr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4" name="Google Shape;114;p13"/>
          <p:cNvSpPr txBox="1"/>
          <p:nvPr>
            <p:ph idx="1" type="body"/>
          </p:nvPr>
        </p:nvSpPr>
        <p:spPr>
          <a:xfrm>
            <a:off x="0" y="3717000"/>
            <a:ext cx="12195175" cy="3141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9pPr>
          </a:lstStyle>
          <a:p/>
        </p:txBody>
      </p:sp>
      <p:sp>
        <p:nvSpPr>
          <p:cNvPr id="115" name="Google Shape;115;p13"/>
          <p:cNvSpPr txBox="1"/>
          <p:nvPr>
            <p:ph type="title"/>
          </p:nvPr>
        </p:nvSpPr>
        <p:spPr>
          <a:xfrm>
            <a:off x="1055963" y="1268900"/>
            <a:ext cx="8858968" cy="2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Fira Sans Condensed"/>
              <a:buNone/>
              <a:defRPr sz="5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3" type="body"/>
          </p:nvPr>
        </p:nvSpPr>
        <p:spPr>
          <a:xfrm>
            <a:off x="1055963" y="3428912"/>
            <a:ext cx="8858968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None/>
              <a:defRPr b="0" sz="4600"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Font typeface="Fira Sans"/>
              <a:buNone/>
              <a:defRPr b="0" sz="4600">
                <a:solidFill>
                  <a:schemeClr val="dk2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12" type="sldNum"/>
          </p:nvPr>
        </p:nvSpPr>
        <p:spPr>
          <a:xfrm>
            <a:off x="408106" y="6453000"/>
            <a:ext cx="3600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18" name="Google Shape;118;p13"/>
          <p:cNvSpPr txBox="1"/>
          <p:nvPr>
            <p:ph idx="11" type="ftr"/>
          </p:nvPr>
        </p:nvSpPr>
        <p:spPr>
          <a:xfrm>
            <a:off x="1055962" y="6453000"/>
            <a:ext cx="49692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19" name="Google Shape;119;p13"/>
          <p:cNvSpPr txBox="1"/>
          <p:nvPr>
            <p:ph idx="10" type="dt"/>
          </p:nvPr>
        </p:nvSpPr>
        <p:spPr>
          <a:xfrm>
            <a:off x="6493814" y="6453000"/>
            <a:ext cx="7201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4" type="body"/>
          </p:nvPr>
        </p:nvSpPr>
        <p:spPr>
          <a:xfrm>
            <a:off x="6157603" y="6481979"/>
            <a:ext cx="215956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  <p:sp>
        <p:nvSpPr>
          <p:cNvPr id="121" name="Google Shape;121;p13"/>
          <p:cNvSpPr txBox="1"/>
          <p:nvPr>
            <p:ph idx="5" type="body"/>
          </p:nvPr>
        </p:nvSpPr>
        <p:spPr>
          <a:xfrm>
            <a:off x="11326149" y="6414338"/>
            <a:ext cx="532939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122" name="Google Shape;122;p13"/>
          <p:cNvSpPr txBox="1"/>
          <p:nvPr>
            <p:ph idx="6" type="body"/>
          </p:nvPr>
        </p:nvSpPr>
        <p:spPr>
          <a:xfrm>
            <a:off x="10634769" y="4761000"/>
            <a:ext cx="756197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6244">
          <p15:clr>
            <a:srgbClr val="F26B43"/>
          </p15:clr>
        </p15:guide>
        <p15:guide id="2" orient="horz" pos="2115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Picture DARK">
  <p:cSld name="Section Header Picture DAR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/>
          <p:nvPr>
            <p:ph idx="2" type="pic"/>
          </p:nvPr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25" name="Google Shape;125;p14"/>
          <p:cNvSpPr txBox="1"/>
          <p:nvPr>
            <p:ph idx="1" type="body"/>
          </p:nvPr>
        </p:nvSpPr>
        <p:spPr>
          <a:xfrm>
            <a:off x="0" y="3717001"/>
            <a:ext cx="12195175" cy="31410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3pPr>
            <a:lvl4pPr indent="-3429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/>
            </a:lvl6pPr>
            <a:lvl7pPr indent="-3429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7pPr>
            <a:lvl8pPr indent="-3429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8pPr>
            <a:lvl9pPr indent="-3429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126" name="Google Shape;126;p14"/>
          <p:cNvSpPr txBox="1"/>
          <p:nvPr>
            <p:ph type="title"/>
          </p:nvPr>
        </p:nvSpPr>
        <p:spPr>
          <a:xfrm>
            <a:off x="1055963" y="1268900"/>
            <a:ext cx="8858968" cy="208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Sans Condensed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4"/>
          <p:cNvSpPr txBox="1"/>
          <p:nvPr>
            <p:ph idx="3" type="body"/>
          </p:nvPr>
        </p:nvSpPr>
        <p:spPr>
          <a:xfrm>
            <a:off x="1055963" y="3429000"/>
            <a:ext cx="8858968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b="0" sz="4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Font typeface="Fira Sans"/>
              <a:buNone/>
              <a:defRPr b="0" sz="4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b="0"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12" type="sldNum"/>
          </p:nvPr>
        </p:nvSpPr>
        <p:spPr>
          <a:xfrm>
            <a:off x="408106" y="6453000"/>
            <a:ext cx="3600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9" name="Google Shape;129;p14"/>
          <p:cNvSpPr txBox="1"/>
          <p:nvPr>
            <p:ph idx="11" type="ftr"/>
          </p:nvPr>
        </p:nvSpPr>
        <p:spPr>
          <a:xfrm>
            <a:off x="1055962" y="6453000"/>
            <a:ext cx="49692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10" type="dt"/>
          </p:nvPr>
        </p:nvSpPr>
        <p:spPr>
          <a:xfrm>
            <a:off x="6493814" y="6453000"/>
            <a:ext cx="7201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4" type="body"/>
          </p:nvPr>
        </p:nvSpPr>
        <p:spPr>
          <a:xfrm>
            <a:off x="6157603" y="6481979"/>
            <a:ext cx="215956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  <p:sp>
        <p:nvSpPr>
          <p:cNvPr id="132" name="Google Shape;132;p14"/>
          <p:cNvSpPr txBox="1"/>
          <p:nvPr>
            <p:ph idx="5" type="body"/>
          </p:nvPr>
        </p:nvSpPr>
        <p:spPr>
          <a:xfrm>
            <a:off x="11326149" y="6414338"/>
            <a:ext cx="532939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133" name="Google Shape;133;p14"/>
          <p:cNvSpPr txBox="1"/>
          <p:nvPr>
            <p:ph idx="6" type="body"/>
          </p:nvPr>
        </p:nvSpPr>
        <p:spPr>
          <a:xfrm>
            <a:off x="10634769" y="4761000"/>
            <a:ext cx="756197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half Picture WHITE ">
  <p:cSld name="Section Header half Picture WHITE 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/>
          <p:nvPr/>
        </p:nvSpPr>
        <p:spPr>
          <a:xfrm>
            <a:off x="5737494" y="6309000"/>
            <a:ext cx="1080281" cy="54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762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ira Sans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6" name="Google Shape;136;p15"/>
          <p:cNvSpPr/>
          <p:nvPr>
            <p:ph idx="2" type="pic"/>
          </p:nvPr>
        </p:nvSpPr>
        <p:spPr>
          <a:xfrm>
            <a:off x="6674000" y="0"/>
            <a:ext cx="5521174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37" name="Google Shape;137;p15"/>
          <p:cNvSpPr txBox="1"/>
          <p:nvPr>
            <p:ph idx="1" type="body"/>
          </p:nvPr>
        </p:nvSpPr>
        <p:spPr>
          <a:xfrm>
            <a:off x="6674000" y="3717000"/>
            <a:ext cx="5521174" cy="3141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9pPr>
          </a:lstStyle>
          <a:p/>
        </p:txBody>
      </p:sp>
      <p:sp>
        <p:nvSpPr>
          <p:cNvPr id="138" name="Google Shape;138;p15"/>
          <p:cNvSpPr/>
          <p:nvPr/>
        </p:nvSpPr>
        <p:spPr>
          <a:xfrm>
            <a:off x="0" y="0"/>
            <a:ext cx="1872488" cy="9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9" name="Google Shape;139;p15"/>
          <p:cNvSpPr txBox="1"/>
          <p:nvPr>
            <p:ph type="title"/>
          </p:nvPr>
        </p:nvSpPr>
        <p:spPr>
          <a:xfrm>
            <a:off x="408094" y="693000"/>
            <a:ext cx="5760950" cy="187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Fira Sans Condensed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>
            <p:ph idx="3" type="body"/>
          </p:nvPr>
        </p:nvSpPr>
        <p:spPr>
          <a:xfrm>
            <a:off x="408094" y="2564912"/>
            <a:ext cx="5760950" cy="19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b="0" sz="4200">
                <a:solidFill>
                  <a:schemeClr val="dk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Fira Sans"/>
              <a:buNone/>
              <a:defRPr b="0" sz="4200">
                <a:solidFill>
                  <a:schemeClr val="dk2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2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2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12" type="sldNum"/>
          </p:nvPr>
        </p:nvSpPr>
        <p:spPr>
          <a:xfrm>
            <a:off x="408106" y="6453000"/>
            <a:ext cx="3600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42" name="Google Shape;142;p15"/>
          <p:cNvSpPr txBox="1"/>
          <p:nvPr>
            <p:ph idx="11" type="ftr"/>
          </p:nvPr>
        </p:nvSpPr>
        <p:spPr>
          <a:xfrm>
            <a:off x="1055962" y="6453000"/>
            <a:ext cx="4681219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4" type="body"/>
          </p:nvPr>
        </p:nvSpPr>
        <p:spPr>
          <a:xfrm>
            <a:off x="11324948" y="6414338"/>
            <a:ext cx="532939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144" name="Google Shape;144;p15"/>
          <p:cNvSpPr txBox="1"/>
          <p:nvPr>
            <p:ph idx="10" type="dt"/>
          </p:nvPr>
        </p:nvSpPr>
        <p:spPr>
          <a:xfrm>
            <a:off x="6889794" y="6453000"/>
            <a:ext cx="7201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5" name="Google Shape;145;p15"/>
          <p:cNvSpPr/>
          <p:nvPr/>
        </p:nvSpPr>
        <p:spPr>
          <a:xfrm>
            <a:off x="6156009" y="6475630"/>
            <a:ext cx="216056" cy="98743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15"/>
          <p:cNvSpPr txBox="1"/>
          <p:nvPr>
            <p:ph idx="5" type="body"/>
          </p:nvPr>
        </p:nvSpPr>
        <p:spPr>
          <a:xfrm>
            <a:off x="4945287" y="4869000"/>
            <a:ext cx="1224319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147" name="Google Shape;147;p15"/>
          <p:cNvSpPr txBox="1"/>
          <p:nvPr>
            <p:ph idx="6" type="body"/>
          </p:nvPr>
        </p:nvSpPr>
        <p:spPr>
          <a:xfrm>
            <a:off x="6157603" y="6481979"/>
            <a:ext cx="215956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1616">
          <p15:clr>
            <a:srgbClr val="F26B43"/>
          </p15:clr>
        </p15:guide>
        <p15:guide id="2" pos="3885">
          <p15:clr>
            <a:srgbClr val="F26B43"/>
          </p15:clr>
        </p15:guide>
        <p15:guide id="3" pos="4203">
          <p15:clr>
            <a:srgbClr val="F26B43"/>
          </p15:clr>
        </p15:guide>
        <p15:guide id="4" pos="257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half Picture DARK">
  <p:cSld name="Section Header half Picture DARK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51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/>
          <p:nvPr>
            <p:ph idx="2" type="pic"/>
          </p:nvPr>
        </p:nvSpPr>
        <p:spPr>
          <a:xfrm>
            <a:off x="6674001" y="0"/>
            <a:ext cx="5521174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6674000" y="3717000"/>
            <a:ext cx="5521174" cy="3141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Fira Sans"/>
              <a:buNone/>
              <a:defRPr b="0" sz="800"/>
            </a:lvl9pPr>
          </a:lstStyle>
          <a:p/>
        </p:txBody>
      </p:sp>
      <p:sp>
        <p:nvSpPr>
          <p:cNvPr id="152" name="Google Shape;152;p16"/>
          <p:cNvSpPr txBox="1"/>
          <p:nvPr>
            <p:ph type="title"/>
          </p:nvPr>
        </p:nvSpPr>
        <p:spPr>
          <a:xfrm>
            <a:off x="408094" y="693000"/>
            <a:ext cx="5760950" cy="187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Condensed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6"/>
          <p:cNvSpPr txBox="1"/>
          <p:nvPr>
            <p:ph idx="3" type="body"/>
          </p:nvPr>
        </p:nvSpPr>
        <p:spPr>
          <a:xfrm>
            <a:off x="408095" y="2564912"/>
            <a:ext cx="5762251" cy="19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0" sz="4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Fira Sans"/>
              <a:buNone/>
              <a:defRPr b="0" sz="4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16"/>
          <p:cNvSpPr txBox="1"/>
          <p:nvPr>
            <p:ph idx="12" type="sldNum"/>
          </p:nvPr>
        </p:nvSpPr>
        <p:spPr>
          <a:xfrm>
            <a:off x="408106" y="6453000"/>
            <a:ext cx="3600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55" name="Google Shape;155;p16"/>
          <p:cNvSpPr txBox="1"/>
          <p:nvPr>
            <p:ph idx="11" type="ftr"/>
          </p:nvPr>
        </p:nvSpPr>
        <p:spPr>
          <a:xfrm>
            <a:off x="1055962" y="6453000"/>
            <a:ext cx="4681219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ira Sans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6" name="Google Shape;156;p16"/>
          <p:cNvSpPr txBox="1"/>
          <p:nvPr>
            <p:ph idx="4" type="body"/>
          </p:nvPr>
        </p:nvSpPr>
        <p:spPr>
          <a:xfrm>
            <a:off x="11324948" y="6414338"/>
            <a:ext cx="532939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157" name="Google Shape;157;p16"/>
          <p:cNvSpPr txBox="1"/>
          <p:nvPr>
            <p:ph idx="5" type="body"/>
          </p:nvPr>
        </p:nvSpPr>
        <p:spPr>
          <a:xfrm>
            <a:off x="4945287" y="4869000"/>
            <a:ext cx="1224319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Fira Sans"/>
              <a:buNone/>
              <a:defRPr b="0" sz="600"/>
            </a:lvl9pPr>
          </a:lstStyle>
          <a:p/>
        </p:txBody>
      </p:sp>
      <p:sp>
        <p:nvSpPr>
          <p:cNvPr id="158" name="Google Shape;158;p16"/>
          <p:cNvSpPr txBox="1"/>
          <p:nvPr>
            <p:ph idx="10" type="dt"/>
          </p:nvPr>
        </p:nvSpPr>
        <p:spPr>
          <a:xfrm>
            <a:off x="6889794" y="6453000"/>
            <a:ext cx="7201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59" name="Google Shape;159;p16"/>
          <p:cNvSpPr txBox="1"/>
          <p:nvPr>
            <p:ph idx="6" type="body"/>
          </p:nvPr>
        </p:nvSpPr>
        <p:spPr>
          <a:xfrm>
            <a:off x="6157603" y="6481979"/>
            <a:ext cx="215956" cy="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"/>
              <a:buFont typeface="Fira Sans"/>
              <a:buNone/>
              <a:defRPr b="0" sz="4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400"/>
              <a:buFont typeface="Fira Sans"/>
              <a:buNone/>
              <a:defRPr b="0" sz="4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400"/>
              <a:buFont typeface="Fira Sans"/>
              <a:buNone/>
              <a:defRPr b="0" sz="4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1616">
          <p15:clr>
            <a:srgbClr val="F26B43"/>
          </p15:clr>
        </p15:guide>
        <p15:guide id="2" pos="3885">
          <p15:clr>
            <a:srgbClr val="F26B43"/>
          </p15:clr>
        </p15:guide>
        <p15:guide id="3" pos="4203">
          <p15:clr>
            <a:srgbClr val="F26B43"/>
          </p15:clr>
        </p15:guide>
        <p15:guide id="4" pos="257">
          <p15:clr>
            <a:srgbClr val="F26B43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 WHITE">
  <p:cSld name="2_Title and Content WHITE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89" y="1588"/>
            <a:ext cx="1588" cy="158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>
            <p:ph type="title"/>
          </p:nvPr>
        </p:nvSpPr>
        <p:spPr>
          <a:xfrm>
            <a:off x="1055962" y="512676"/>
            <a:ext cx="1073079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Fira Sans Condense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1056274" y="1773000"/>
            <a:ext cx="10730807" cy="4391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3pPr>
            <a:lvl4pPr indent="-3429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−"/>
              <a:defRPr/>
            </a:lvl4pPr>
            <a:lvl5pPr indent="-228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/>
            </a:lvl6pPr>
            <a:lvl7pPr indent="-3429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7pPr>
            <a:lvl8pPr indent="-3429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&gt;"/>
              <a:defRPr/>
            </a:lvl8pPr>
            <a:lvl9pPr indent="-3429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12" type="sldNum"/>
          </p:nvPr>
        </p:nvSpPr>
        <p:spPr>
          <a:xfrm>
            <a:off x="408106" y="6453000"/>
            <a:ext cx="3600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65" name="Google Shape;165;p17"/>
          <p:cNvSpPr txBox="1"/>
          <p:nvPr>
            <p:ph idx="11" type="ftr"/>
          </p:nvPr>
        </p:nvSpPr>
        <p:spPr>
          <a:xfrm>
            <a:off x="1055962" y="6453000"/>
            <a:ext cx="49692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6" name="Google Shape;166;p17"/>
          <p:cNvSpPr txBox="1"/>
          <p:nvPr>
            <p:ph idx="10" type="dt"/>
          </p:nvPr>
        </p:nvSpPr>
        <p:spPr>
          <a:xfrm>
            <a:off x="6493814" y="6453000"/>
            <a:ext cx="7201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055962" y="512676"/>
            <a:ext cx="1073079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Fira Sans Condensed"/>
              <a:buNone/>
              <a:defRPr b="1" i="0" sz="3400" u="none" cap="none" strike="noStrike">
                <a:solidFill>
                  <a:schemeClr val="dk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1055962" y="6453000"/>
            <a:ext cx="49692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493814" y="6453000"/>
            <a:ext cx="7201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3" name="Google Shape;13;p1"/>
          <p:cNvSpPr/>
          <p:nvPr/>
        </p:nvSpPr>
        <p:spPr>
          <a:xfrm>
            <a:off x="408094" y="613858"/>
            <a:ext cx="432113" cy="197485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1"/>
          <p:cNvSpPr/>
          <p:nvPr/>
        </p:nvSpPr>
        <p:spPr>
          <a:xfrm>
            <a:off x="6156009" y="6475630"/>
            <a:ext cx="216056" cy="98743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408106" y="6453000"/>
            <a:ext cx="504131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Fira Sans"/>
              <a:buNone/>
              <a:defRPr b="0" i="0" sz="9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6" name="Google Shape;16;p1"/>
          <p:cNvSpPr txBox="1"/>
          <p:nvPr>
            <p:ph idx="1" type="body"/>
          </p:nvPr>
        </p:nvSpPr>
        <p:spPr>
          <a:xfrm>
            <a:off x="1056274" y="1773000"/>
            <a:ext cx="10730807" cy="4391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&gt;"/>
              <a:defRPr b="0" i="0" sz="14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&gt;"/>
              <a:defRPr b="0" i="0" sz="14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  <a:defRPr b="1" i="0" sz="16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None/>
              <a:defRPr b="0" i="0" sz="14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ira Sans"/>
              <a:buChar char="&gt;"/>
              <a:defRPr b="0" i="0" sz="10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ira Sans"/>
              <a:buChar char="&gt;"/>
              <a:defRPr b="0" i="0" sz="10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2"/>
              </a:buClr>
              <a:buSzPts val="1000"/>
              <a:buFont typeface="Noto Sans Symbols"/>
              <a:buChar char="−"/>
              <a:defRPr b="0" i="0" sz="10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pic>
        <p:nvPicPr>
          <p:cNvPr descr="Ein Bild, das Text, Schrift, Grafiken, Screenshot enthält.&#10;&#10;KI-generierte Inhalte können fehlerhaft sein." id="17" name="Google Shape;1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206117" y="6415200"/>
            <a:ext cx="648169" cy="2088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type="title"/>
          </p:nvPr>
        </p:nvSpPr>
        <p:spPr>
          <a:xfrm>
            <a:off x="1055962" y="512676"/>
            <a:ext cx="1073079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Fira Sans Condensed"/>
              <a:buNone/>
            </a:pPr>
            <a:r>
              <a:rPr lang="de-DE">
                <a:solidFill>
                  <a:schemeClr val="accent6"/>
                </a:solidFill>
              </a:rPr>
              <a:t>Player im Energiemarkt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72" name="Google Shape;172;p18"/>
          <p:cNvSpPr txBox="1"/>
          <p:nvPr>
            <p:ph idx="12" type="sldNum"/>
          </p:nvPr>
        </p:nvSpPr>
        <p:spPr>
          <a:xfrm>
            <a:off x="408106" y="6453000"/>
            <a:ext cx="3600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fld id="{00000000-1234-1234-1234-123412341234}" type="slidenum"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>
              <a:solidFill>
                <a:srgbClr val="006EC7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3" name="Google Shape;173;p18"/>
          <p:cNvSpPr txBox="1"/>
          <p:nvPr>
            <p:ph idx="11" type="ftr"/>
          </p:nvPr>
        </p:nvSpPr>
        <p:spPr>
          <a:xfrm>
            <a:off x="1055962" y="6453000"/>
            <a:ext cx="49692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r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Produktmanagement | adesso business consulting</a:t>
            </a:r>
            <a:endParaRPr/>
          </a:p>
        </p:txBody>
      </p:sp>
      <p:sp>
        <p:nvSpPr>
          <p:cNvPr id="174" name="Google Shape;174;p18"/>
          <p:cNvSpPr txBox="1"/>
          <p:nvPr>
            <p:ph idx="10" type="dt"/>
          </p:nvPr>
        </p:nvSpPr>
        <p:spPr>
          <a:xfrm>
            <a:off x="6493814" y="6453000"/>
            <a:ext cx="7201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r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13.10.2026</a:t>
            </a:r>
            <a:endParaRPr>
              <a:solidFill>
                <a:srgbClr val="006EC7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1235230" y="2773415"/>
            <a:ext cx="2751120" cy="1755389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Neo Utility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Flexibilitätsvermarkter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Energie Startup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4860836" y="1352334"/>
            <a:ext cx="2751120" cy="1755389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Marktrolle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VNB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4860836" y="4378291"/>
            <a:ext cx="2751120" cy="1755389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Marktrolle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MSB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8861900" y="2752372"/>
            <a:ext cx="2751120" cy="1755389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Marktrolle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Vertrieb</a:t>
            </a:r>
            <a:endParaRPr/>
          </a:p>
        </p:txBody>
      </p:sp>
      <p:cxnSp>
        <p:nvCxnSpPr>
          <p:cNvPr id="179" name="Google Shape;179;p18"/>
          <p:cNvCxnSpPr>
            <a:stCxn id="175" idx="0"/>
            <a:endCxn id="176" idx="1"/>
          </p:cNvCxnSpPr>
          <p:nvPr/>
        </p:nvCxnSpPr>
        <p:spPr>
          <a:xfrm rot="-5400000">
            <a:off x="3464140" y="1376765"/>
            <a:ext cx="543300" cy="2250000"/>
          </a:xfrm>
          <a:prstGeom prst="bentConnector2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80" name="Google Shape;180;p18"/>
          <p:cNvCxnSpPr>
            <a:stCxn id="177" idx="1"/>
            <a:endCxn id="175" idx="2"/>
          </p:cNvCxnSpPr>
          <p:nvPr/>
        </p:nvCxnSpPr>
        <p:spPr>
          <a:xfrm rot="10800000">
            <a:off x="2610836" y="4528786"/>
            <a:ext cx="2250000" cy="727200"/>
          </a:xfrm>
          <a:prstGeom prst="bentConnector2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81" name="Google Shape;181;p18"/>
          <p:cNvCxnSpPr>
            <a:stCxn id="178" idx="0"/>
            <a:endCxn id="176" idx="3"/>
          </p:cNvCxnSpPr>
          <p:nvPr/>
        </p:nvCxnSpPr>
        <p:spPr>
          <a:xfrm flipH="1" rot="5400000">
            <a:off x="8663510" y="1178422"/>
            <a:ext cx="522300" cy="2625600"/>
          </a:xfrm>
          <a:prstGeom prst="bentConnector2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82" name="Google Shape;182;p18"/>
          <p:cNvCxnSpPr>
            <a:stCxn id="178" idx="2"/>
            <a:endCxn id="177" idx="3"/>
          </p:cNvCxnSpPr>
          <p:nvPr/>
        </p:nvCxnSpPr>
        <p:spPr>
          <a:xfrm rot="5400000">
            <a:off x="8550560" y="3569061"/>
            <a:ext cx="748200" cy="2625600"/>
          </a:xfrm>
          <a:prstGeom prst="bentConnector2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type="title"/>
          </p:nvPr>
        </p:nvSpPr>
        <p:spPr>
          <a:xfrm>
            <a:off x="1055962" y="512676"/>
            <a:ext cx="1073079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Fira Sans Condensed"/>
              <a:buNone/>
            </a:pPr>
            <a:r>
              <a:rPr lang="de-DE" sz="3600">
                <a:solidFill>
                  <a:schemeClr val="accent6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Solution Map für Marktrolle VNB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88" name="Google Shape;188;p19"/>
          <p:cNvSpPr txBox="1"/>
          <p:nvPr>
            <p:ph idx="12" type="sldNum"/>
          </p:nvPr>
        </p:nvSpPr>
        <p:spPr>
          <a:xfrm>
            <a:off x="408106" y="6453000"/>
            <a:ext cx="3600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fld id="{00000000-1234-1234-1234-123412341234}" type="slidenum"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>
              <a:solidFill>
                <a:srgbClr val="006EC7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9" name="Google Shape;189;p19"/>
          <p:cNvSpPr txBox="1"/>
          <p:nvPr>
            <p:ph idx="11" type="ftr"/>
          </p:nvPr>
        </p:nvSpPr>
        <p:spPr>
          <a:xfrm>
            <a:off x="1055962" y="6453000"/>
            <a:ext cx="49692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r>
              <a:rPr lang="de-DE">
                <a:solidFill>
                  <a:srgbClr val="006EC7"/>
                </a:solidFill>
              </a:rPr>
              <a:t>Produktmanagement | adesso business consulting</a:t>
            </a:r>
            <a:endParaRPr/>
          </a:p>
        </p:txBody>
      </p:sp>
      <p:sp>
        <p:nvSpPr>
          <p:cNvPr id="190" name="Google Shape;190;p19"/>
          <p:cNvSpPr txBox="1"/>
          <p:nvPr>
            <p:ph idx="10" type="dt"/>
          </p:nvPr>
        </p:nvSpPr>
        <p:spPr>
          <a:xfrm>
            <a:off x="6493814" y="6453000"/>
            <a:ext cx="7201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r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13.10.2026</a:t>
            </a:r>
            <a:endParaRPr>
              <a:solidFill>
                <a:srgbClr val="006EC7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10671643" y="2095605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Nebenbuch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Hauptbuch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ZV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92" name="Google Shape;192;p19"/>
          <p:cNvCxnSpPr>
            <a:stCxn id="193" idx="3"/>
            <a:endCxn id="191" idx="0"/>
          </p:cNvCxnSpPr>
          <p:nvPr/>
        </p:nvCxnSpPr>
        <p:spPr>
          <a:xfrm>
            <a:off x="10290211" y="1818576"/>
            <a:ext cx="1099200" cy="276900"/>
          </a:xfrm>
          <a:prstGeom prst="bentConnector2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94" name="Google Shape;194;p19"/>
          <p:cNvCxnSpPr>
            <a:stCxn id="195" idx="3"/>
            <a:endCxn id="191" idx="2"/>
          </p:cNvCxnSpPr>
          <p:nvPr/>
        </p:nvCxnSpPr>
        <p:spPr>
          <a:xfrm flipH="1" rot="10800000">
            <a:off x="10358703" y="3101346"/>
            <a:ext cx="1030800" cy="305100"/>
          </a:xfrm>
          <a:prstGeom prst="bentConnector2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96" name="Google Shape;196;p19"/>
          <p:cNvSpPr/>
          <p:nvPr/>
        </p:nvSpPr>
        <p:spPr>
          <a:xfrm>
            <a:off x="10070196" y="6375321"/>
            <a:ext cx="1031911" cy="313632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SAP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2711365" y="1296408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Konstrukt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Übersicht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App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828868" y="2926080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Anmeldung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Konstrukt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2709484" y="2926080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Prüfung der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Daten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8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Teilnehmerliste, Einspeiser, iMSys, Abmeldeanfrage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2718402" y="4811976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Korrektur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Daten</a:t>
            </a:r>
            <a:endParaRPr/>
          </a:p>
        </p:txBody>
      </p:sp>
      <p:cxnSp>
        <p:nvCxnSpPr>
          <p:cNvPr id="201" name="Google Shape;201;p19"/>
          <p:cNvCxnSpPr>
            <a:stCxn id="197" idx="2"/>
            <a:endCxn id="199" idx="0"/>
          </p:cNvCxnSpPr>
          <p:nvPr/>
        </p:nvCxnSpPr>
        <p:spPr>
          <a:xfrm flipH="1">
            <a:off x="3427369" y="2302248"/>
            <a:ext cx="1800" cy="6237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02" name="Google Shape;202;p19"/>
          <p:cNvCxnSpPr>
            <a:stCxn id="198" idx="3"/>
            <a:endCxn id="199" idx="1"/>
          </p:cNvCxnSpPr>
          <p:nvPr/>
        </p:nvCxnSpPr>
        <p:spPr>
          <a:xfrm>
            <a:off x="2264476" y="3429000"/>
            <a:ext cx="4449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03" name="Google Shape;203;p19"/>
          <p:cNvSpPr/>
          <p:nvPr/>
        </p:nvSpPr>
        <p:spPr>
          <a:xfrm>
            <a:off x="4534784" y="2921814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Aufbau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vSZ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04" name="Google Shape;204;p19"/>
          <p:cNvCxnSpPr>
            <a:stCxn id="199" idx="3"/>
            <a:endCxn id="203" idx="1"/>
          </p:cNvCxnSpPr>
          <p:nvPr/>
        </p:nvCxnSpPr>
        <p:spPr>
          <a:xfrm flipH="1" rot="10800000">
            <a:off x="4145092" y="3424800"/>
            <a:ext cx="389700" cy="4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05" name="Google Shape;205;p19"/>
          <p:cNvSpPr/>
          <p:nvPr/>
        </p:nvSpPr>
        <p:spPr>
          <a:xfrm>
            <a:off x="6805393" y="1316736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Einzug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Reststrom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Lieferant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UTILMD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6763998" y="2912059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Umstellung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auf ruhende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MaLo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8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Inkl. MEMA/MAMA</a:t>
            </a:r>
            <a:endParaRPr b="0" i="0" sz="8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8923095" y="2903526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Schluss-rechnung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INVOIC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07" name="Google Shape;207;p19"/>
          <p:cNvCxnSpPr>
            <a:stCxn id="205" idx="3"/>
            <a:endCxn id="193" idx="1"/>
          </p:cNvCxnSpPr>
          <p:nvPr/>
        </p:nvCxnSpPr>
        <p:spPr>
          <a:xfrm flipH="1" rot="10800000">
            <a:off x="8241001" y="1818456"/>
            <a:ext cx="613500" cy="1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08" name="Google Shape;208;p19"/>
          <p:cNvCxnSpPr>
            <a:stCxn id="206" idx="3"/>
            <a:endCxn id="195" idx="1"/>
          </p:cNvCxnSpPr>
          <p:nvPr/>
        </p:nvCxnSpPr>
        <p:spPr>
          <a:xfrm flipH="1" rot="10800000">
            <a:off x="8199606" y="3406579"/>
            <a:ext cx="723600" cy="84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09" name="Google Shape;209;p19"/>
          <p:cNvSpPr/>
          <p:nvPr/>
        </p:nvSpPr>
        <p:spPr>
          <a:xfrm>
            <a:off x="3956698" y="1067616"/>
            <a:ext cx="766479" cy="858420"/>
          </a:xfrm>
          <a:prstGeom prst="irregularSeal1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MVP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6784695" y="4871088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Anpassung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EDM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11" name="Google Shape;211;p19"/>
          <p:cNvCxnSpPr>
            <a:stCxn id="203" idx="3"/>
            <a:endCxn id="205" idx="1"/>
          </p:cNvCxnSpPr>
          <p:nvPr/>
        </p:nvCxnSpPr>
        <p:spPr>
          <a:xfrm flipH="1" rot="10800000">
            <a:off x="5970392" y="1819734"/>
            <a:ext cx="834900" cy="1605000"/>
          </a:xfrm>
          <a:prstGeom prst="bentConnector3">
            <a:avLst>
              <a:gd fmla="val 50006" name="adj1"/>
            </a:avLst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12" name="Google Shape;212;p19"/>
          <p:cNvCxnSpPr>
            <a:stCxn id="203" idx="3"/>
            <a:endCxn id="210" idx="1"/>
          </p:cNvCxnSpPr>
          <p:nvPr/>
        </p:nvCxnSpPr>
        <p:spPr>
          <a:xfrm>
            <a:off x="5970392" y="3424734"/>
            <a:ext cx="814200" cy="1949400"/>
          </a:xfrm>
          <a:prstGeom prst="bentConnector3">
            <a:avLst>
              <a:gd fmla="val 50006" name="adj1"/>
            </a:avLst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13" name="Google Shape;213;p19"/>
          <p:cNvCxnSpPr>
            <a:stCxn id="203" idx="3"/>
            <a:endCxn id="206" idx="1"/>
          </p:cNvCxnSpPr>
          <p:nvPr/>
        </p:nvCxnSpPr>
        <p:spPr>
          <a:xfrm flipH="1" rot="10800000">
            <a:off x="5970392" y="3414834"/>
            <a:ext cx="793500" cy="99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93" name="Google Shape;193;p19"/>
          <p:cNvSpPr/>
          <p:nvPr/>
        </p:nvSpPr>
        <p:spPr>
          <a:xfrm>
            <a:off x="8854603" y="1315656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Abrechnung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INVOIC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8940232" y="4854447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Messwert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Prozesse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MSCONS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588153" y="3653370"/>
            <a:ext cx="766479" cy="858420"/>
          </a:xfrm>
          <a:prstGeom prst="irregularSeal1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MVP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16" name="Google Shape;216;p19"/>
          <p:cNvCxnSpPr>
            <a:stCxn id="203" idx="0"/>
            <a:endCxn id="197" idx="3"/>
          </p:cNvCxnSpPr>
          <p:nvPr/>
        </p:nvCxnSpPr>
        <p:spPr>
          <a:xfrm flipH="1" rot="5400000">
            <a:off x="4138538" y="1807764"/>
            <a:ext cx="1122600" cy="1105500"/>
          </a:xfrm>
          <a:prstGeom prst="bentConnector2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17" name="Google Shape;217;p19"/>
          <p:cNvSpPr/>
          <p:nvPr/>
        </p:nvSpPr>
        <p:spPr>
          <a:xfrm>
            <a:off x="7843676" y="3498444"/>
            <a:ext cx="766479" cy="858420"/>
          </a:xfrm>
          <a:prstGeom prst="irregularSeal1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MVP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18" name="Google Shape;218;p19"/>
          <p:cNvCxnSpPr>
            <a:stCxn id="210" idx="3"/>
            <a:endCxn id="214" idx="1"/>
          </p:cNvCxnSpPr>
          <p:nvPr/>
        </p:nvCxnSpPr>
        <p:spPr>
          <a:xfrm flipH="1" rot="10800000">
            <a:off x="8220303" y="5357508"/>
            <a:ext cx="720000" cy="165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19" name="Google Shape;219;p19"/>
          <p:cNvCxnSpPr>
            <a:stCxn id="199" idx="2"/>
            <a:endCxn id="200" idx="0"/>
          </p:cNvCxnSpPr>
          <p:nvPr/>
        </p:nvCxnSpPr>
        <p:spPr>
          <a:xfrm>
            <a:off x="3427288" y="3931920"/>
            <a:ext cx="9000" cy="880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20" name="Google Shape;220;p19"/>
          <p:cNvSpPr/>
          <p:nvPr/>
        </p:nvSpPr>
        <p:spPr>
          <a:xfrm>
            <a:off x="4767093" y="3748032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12700">
            <a:solidFill>
              <a:srgbClr val="0C0C0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Übergabe-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zähler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2419720" y="3685224"/>
            <a:ext cx="766479" cy="858420"/>
          </a:xfrm>
          <a:prstGeom prst="irregularSeal1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MVP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5063332" y="4811976"/>
            <a:ext cx="766479" cy="858420"/>
          </a:xfrm>
          <a:prstGeom prst="irregularSeal1">
            <a:avLst/>
          </a:prstGeom>
          <a:solidFill>
            <a:srgbClr val="887D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MCM?</a:t>
            </a:r>
            <a:endParaRPr b="0" i="0" sz="9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Google Shape;227;p20"/>
          <p:cNvCxnSpPr>
            <a:stCxn id="228" idx="0"/>
            <a:endCxn id="229" idx="2"/>
          </p:cNvCxnSpPr>
          <p:nvPr/>
        </p:nvCxnSpPr>
        <p:spPr>
          <a:xfrm flipH="1" rot="5400000">
            <a:off x="5150448" y="580759"/>
            <a:ext cx="609900" cy="40527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0"/>
          <p:cNvCxnSpPr>
            <a:stCxn id="231" idx="0"/>
            <a:endCxn id="229" idx="3"/>
          </p:cNvCxnSpPr>
          <p:nvPr/>
        </p:nvCxnSpPr>
        <p:spPr>
          <a:xfrm flipH="1" rot="5400000">
            <a:off x="4138334" y="1807614"/>
            <a:ext cx="1122600" cy="1105800"/>
          </a:xfrm>
          <a:prstGeom prst="bentConnector2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32" name="Google Shape;232;p20"/>
          <p:cNvCxnSpPr>
            <a:endCxn id="228" idx="2"/>
          </p:cNvCxnSpPr>
          <p:nvPr/>
        </p:nvCxnSpPr>
        <p:spPr>
          <a:xfrm>
            <a:off x="856848" y="3509959"/>
            <a:ext cx="6624900" cy="408000"/>
          </a:xfrm>
          <a:prstGeom prst="bentConnector4">
            <a:avLst>
              <a:gd fmla="val 590" name="adj1"/>
              <a:gd fmla="val 623601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" name="Google Shape;233;p20"/>
          <p:cNvSpPr txBox="1"/>
          <p:nvPr>
            <p:ph type="title"/>
          </p:nvPr>
        </p:nvSpPr>
        <p:spPr>
          <a:xfrm>
            <a:off x="1055962" y="512676"/>
            <a:ext cx="107307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Fira Sans Condensed"/>
              <a:buNone/>
            </a:pPr>
            <a:r>
              <a:rPr lang="de-DE" sz="3600">
                <a:solidFill>
                  <a:schemeClr val="accent6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Solution Map für Marktrolle VNB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34" name="Google Shape;234;p20"/>
          <p:cNvSpPr txBox="1"/>
          <p:nvPr>
            <p:ph idx="12" type="sldNum"/>
          </p:nvPr>
        </p:nvSpPr>
        <p:spPr>
          <a:xfrm>
            <a:off x="408106" y="6453000"/>
            <a:ext cx="36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fld id="{00000000-1234-1234-1234-123412341234}" type="slidenum"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>
              <a:solidFill>
                <a:srgbClr val="006EC7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5" name="Google Shape;235;p20"/>
          <p:cNvSpPr txBox="1"/>
          <p:nvPr>
            <p:ph idx="11" type="ftr"/>
          </p:nvPr>
        </p:nvSpPr>
        <p:spPr>
          <a:xfrm>
            <a:off x="1055962" y="6453000"/>
            <a:ext cx="49692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r>
              <a:rPr lang="de-DE">
                <a:solidFill>
                  <a:srgbClr val="006EC7"/>
                </a:solidFill>
              </a:rPr>
              <a:t>Produktmanagement | adesso business consulting</a:t>
            </a:r>
            <a:endParaRPr/>
          </a:p>
        </p:txBody>
      </p:sp>
      <p:sp>
        <p:nvSpPr>
          <p:cNvPr id="236" name="Google Shape;236;p20"/>
          <p:cNvSpPr txBox="1"/>
          <p:nvPr>
            <p:ph idx="10" type="dt"/>
          </p:nvPr>
        </p:nvSpPr>
        <p:spPr>
          <a:xfrm>
            <a:off x="6493814" y="6453000"/>
            <a:ext cx="7203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r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13.10.2026</a:t>
            </a:r>
            <a:endParaRPr>
              <a:solidFill>
                <a:srgbClr val="006EC7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10671643" y="2095605"/>
            <a:ext cx="1435500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Nebenbuch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Hauptbuch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ZV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38" name="Google Shape;238;p20"/>
          <p:cNvCxnSpPr>
            <a:stCxn id="239" idx="3"/>
            <a:endCxn id="237" idx="0"/>
          </p:cNvCxnSpPr>
          <p:nvPr/>
        </p:nvCxnSpPr>
        <p:spPr>
          <a:xfrm>
            <a:off x="10290103" y="1818606"/>
            <a:ext cx="1099200" cy="276900"/>
          </a:xfrm>
          <a:prstGeom prst="bentConnector2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40" name="Google Shape;240;p20"/>
          <p:cNvCxnSpPr>
            <a:stCxn id="241" idx="3"/>
            <a:endCxn id="237" idx="2"/>
          </p:cNvCxnSpPr>
          <p:nvPr/>
        </p:nvCxnSpPr>
        <p:spPr>
          <a:xfrm flipH="1" rot="10800000">
            <a:off x="10358595" y="3101376"/>
            <a:ext cx="1030800" cy="305100"/>
          </a:xfrm>
          <a:prstGeom prst="bentConnector2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42" name="Google Shape;242;p20"/>
          <p:cNvSpPr/>
          <p:nvPr/>
        </p:nvSpPr>
        <p:spPr>
          <a:xfrm>
            <a:off x="10070196" y="6375321"/>
            <a:ext cx="1032000" cy="3135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SAP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2711365" y="1296408"/>
            <a:ext cx="1435500" cy="10059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Konstrukt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Übersicht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App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146456" y="2926080"/>
            <a:ext cx="1435500" cy="10059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Anmeldung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Konstrukt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2709484" y="2926080"/>
            <a:ext cx="1435500" cy="10059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Prüfung der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Daten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8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Teilnehmerliste, Einspeiser, iMSys, Abmeldeanfrage</a:t>
            </a: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2718402" y="4811976"/>
            <a:ext cx="1435500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Korrektur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Daten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4534784" y="2921814"/>
            <a:ext cx="1435500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Aufbau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vSZ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46" name="Google Shape;246;p20"/>
          <p:cNvCxnSpPr>
            <a:stCxn id="244" idx="3"/>
            <a:endCxn id="231" idx="1"/>
          </p:cNvCxnSpPr>
          <p:nvPr/>
        </p:nvCxnSpPr>
        <p:spPr>
          <a:xfrm flipH="1" rot="10800000">
            <a:off x="4144984" y="3424830"/>
            <a:ext cx="389700" cy="4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47" name="Google Shape;247;p20"/>
          <p:cNvSpPr/>
          <p:nvPr/>
        </p:nvSpPr>
        <p:spPr>
          <a:xfrm>
            <a:off x="6805393" y="1316736"/>
            <a:ext cx="1435500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Einzug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Reststrom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Lieferant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UTILMD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8923095" y="2903526"/>
            <a:ext cx="1435500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Schluss-rechnung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INVOIC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48" name="Google Shape;248;p20"/>
          <p:cNvCxnSpPr>
            <a:stCxn id="247" idx="3"/>
            <a:endCxn id="239" idx="1"/>
          </p:cNvCxnSpPr>
          <p:nvPr/>
        </p:nvCxnSpPr>
        <p:spPr>
          <a:xfrm flipH="1" rot="10800000">
            <a:off x="8240893" y="1818486"/>
            <a:ext cx="613800" cy="1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49" name="Google Shape;249;p20"/>
          <p:cNvCxnSpPr>
            <a:stCxn id="228" idx="3"/>
            <a:endCxn id="241" idx="1"/>
          </p:cNvCxnSpPr>
          <p:nvPr/>
        </p:nvCxnSpPr>
        <p:spPr>
          <a:xfrm flipH="1" rot="10800000">
            <a:off x="8199498" y="3406609"/>
            <a:ext cx="723600" cy="84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50" name="Google Shape;250;p20"/>
          <p:cNvSpPr/>
          <p:nvPr/>
        </p:nvSpPr>
        <p:spPr>
          <a:xfrm>
            <a:off x="3956698" y="1067616"/>
            <a:ext cx="766476" cy="858438"/>
          </a:xfrm>
          <a:prstGeom prst="irregularSeal1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MVP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8004958" y="4864938"/>
            <a:ext cx="1435500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Anpassung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EDM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52" name="Google Shape;252;p20"/>
          <p:cNvCxnSpPr>
            <a:stCxn id="231" idx="3"/>
            <a:endCxn id="247" idx="1"/>
          </p:cNvCxnSpPr>
          <p:nvPr/>
        </p:nvCxnSpPr>
        <p:spPr>
          <a:xfrm flipH="1" rot="10800000">
            <a:off x="5970284" y="1819764"/>
            <a:ext cx="835200" cy="1605000"/>
          </a:xfrm>
          <a:prstGeom prst="bentConnector3">
            <a:avLst>
              <a:gd fmla="val 50006" name="adj1"/>
            </a:avLst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53" name="Google Shape;253;p20"/>
          <p:cNvCxnSpPr>
            <a:stCxn id="231" idx="3"/>
            <a:endCxn id="228" idx="1"/>
          </p:cNvCxnSpPr>
          <p:nvPr/>
        </p:nvCxnSpPr>
        <p:spPr>
          <a:xfrm flipH="1" rot="10800000">
            <a:off x="5970284" y="3414864"/>
            <a:ext cx="793800" cy="99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39" name="Google Shape;239;p20"/>
          <p:cNvSpPr/>
          <p:nvPr/>
        </p:nvSpPr>
        <p:spPr>
          <a:xfrm>
            <a:off x="8854603" y="1315656"/>
            <a:ext cx="1435500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Abrechnung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INVOIC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10070207" y="4862847"/>
            <a:ext cx="1435500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Messwert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Prozesse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MSCONS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588153" y="3653370"/>
            <a:ext cx="766476" cy="858438"/>
          </a:xfrm>
          <a:prstGeom prst="irregularSeal1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MVP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56" name="Google Shape;256;p20"/>
          <p:cNvCxnSpPr>
            <a:stCxn id="251" idx="3"/>
            <a:endCxn id="254" idx="1"/>
          </p:cNvCxnSpPr>
          <p:nvPr/>
        </p:nvCxnSpPr>
        <p:spPr>
          <a:xfrm flipH="1" rot="10800000">
            <a:off x="9440458" y="5365788"/>
            <a:ext cx="629700" cy="21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57" name="Google Shape;257;p20"/>
          <p:cNvCxnSpPr>
            <a:stCxn id="244" idx="2"/>
            <a:endCxn id="245" idx="0"/>
          </p:cNvCxnSpPr>
          <p:nvPr/>
        </p:nvCxnSpPr>
        <p:spPr>
          <a:xfrm>
            <a:off x="3427234" y="3931980"/>
            <a:ext cx="9000" cy="8799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58" name="Google Shape;258;p20"/>
          <p:cNvSpPr/>
          <p:nvPr/>
        </p:nvSpPr>
        <p:spPr>
          <a:xfrm>
            <a:off x="4662106" y="3770907"/>
            <a:ext cx="1435500" cy="1005900"/>
          </a:xfrm>
          <a:prstGeom prst="roundRect">
            <a:avLst>
              <a:gd fmla="val 16667" name="adj"/>
            </a:avLst>
          </a:prstGeom>
          <a:solidFill>
            <a:srgbClr val="464646"/>
          </a:solidFill>
          <a:ln cap="flat" cmpd="sng" w="12700">
            <a:solidFill>
              <a:srgbClr val="0C0C0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Übergabe-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zähler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2561458" y="3653374"/>
            <a:ext cx="766476" cy="858438"/>
          </a:xfrm>
          <a:prstGeom prst="irregularSeal1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MVP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1457825" y="2758275"/>
            <a:ext cx="1368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Registrierungsdaten</a:t>
            </a:r>
            <a:endParaRPr sz="10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61" name="Google Shape;261;p20"/>
          <p:cNvCxnSpPr/>
          <p:nvPr/>
        </p:nvCxnSpPr>
        <p:spPr>
          <a:xfrm>
            <a:off x="1591975" y="3166050"/>
            <a:ext cx="1113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20"/>
          <p:cNvCxnSpPr/>
          <p:nvPr/>
        </p:nvCxnSpPr>
        <p:spPr>
          <a:xfrm rot="10800000">
            <a:off x="1585084" y="3653380"/>
            <a:ext cx="11274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3" name="Google Shape;263;p20"/>
          <p:cNvSpPr txBox="1"/>
          <p:nvPr/>
        </p:nvSpPr>
        <p:spPr>
          <a:xfrm>
            <a:off x="1533975" y="3770900"/>
            <a:ext cx="1127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Verifizierungs Antwort</a:t>
            </a:r>
            <a:endParaRPr sz="10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64" name="Google Shape;264;p20"/>
          <p:cNvCxnSpPr>
            <a:stCxn id="243" idx="0"/>
            <a:endCxn id="229" idx="1"/>
          </p:cNvCxnSpPr>
          <p:nvPr/>
        </p:nvCxnSpPr>
        <p:spPr>
          <a:xfrm rot="-5400000">
            <a:off x="1224356" y="1439130"/>
            <a:ext cx="1126800" cy="1847100"/>
          </a:xfrm>
          <a:prstGeom prst="bentConnector2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20"/>
          <p:cNvSpPr txBox="1"/>
          <p:nvPr/>
        </p:nvSpPr>
        <p:spPr>
          <a:xfrm>
            <a:off x="876800" y="1490475"/>
            <a:ext cx="18219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Verifizierte Daten</a:t>
            </a:r>
            <a:endParaRPr sz="10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6763998" y="2912059"/>
            <a:ext cx="1435500" cy="10059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Umstellung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auf ruhende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MaLo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8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Inkl. MEMA/MAMA</a:t>
            </a:r>
            <a:endParaRPr b="0" i="0" sz="8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66" name="Google Shape;266;p20"/>
          <p:cNvCxnSpPr>
            <a:stCxn id="258" idx="2"/>
            <a:endCxn id="251" idx="1"/>
          </p:cNvCxnSpPr>
          <p:nvPr/>
        </p:nvCxnSpPr>
        <p:spPr>
          <a:xfrm flipH="1" rot="-5400000">
            <a:off x="6396855" y="3759807"/>
            <a:ext cx="591000" cy="2625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" name="Google Shape;267;p20"/>
          <p:cNvSpPr/>
          <p:nvPr/>
        </p:nvSpPr>
        <p:spPr>
          <a:xfrm>
            <a:off x="5063332" y="4811976"/>
            <a:ext cx="766476" cy="858438"/>
          </a:xfrm>
          <a:prstGeom prst="irregularSeal1">
            <a:avLst/>
          </a:prstGeom>
          <a:solidFill>
            <a:srgbClr val="887D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9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MCM?</a:t>
            </a:r>
            <a:endParaRPr b="0" i="0" sz="9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3605500" y="5996988"/>
            <a:ext cx="249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Verifizierte Daten</a:t>
            </a:r>
            <a:endParaRPr sz="10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3776075" y="2315213"/>
            <a:ext cx="1847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Umstellungsstatus</a:t>
            </a:r>
            <a:endParaRPr sz="10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7843676" y="3498444"/>
            <a:ext cx="766476" cy="858438"/>
          </a:xfrm>
          <a:prstGeom prst="irregularSeal1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MVP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 txBox="1"/>
          <p:nvPr>
            <p:ph type="title"/>
          </p:nvPr>
        </p:nvSpPr>
        <p:spPr>
          <a:xfrm>
            <a:off x="1055962" y="512676"/>
            <a:ext cx="1073079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Fira Sans Condensed"/>
              <a:buNone/>
            </a:pPr>
            <a:r>
              <a:rPr lang="de-DE" sz="3600">
                <a:solidFill>
                  <a:schemeClr val="accent6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Solution Map für Vertrieb &amp; Neo Utility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76" name="Google Shape;276;p21"/>
          <p:cNvSpPr txBox="1"/>
          <p:nvPr>
            <p:ph idx="12" type="sldNum"/>
          </p:nvPr>
        </p:nvSpPr>
        <p:spPr>
          <a:xfrm>
            <a:off x="408106" y="6453000"/>
            <a:ext cx="3600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fld id="{00000000-1234-1234-1234-123412341234}" type="slidenum"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>
              <a:solidFill>
                <a:srgbClr val="006EC7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7" name="Google Shape;277;p21"/>
          <p:cNvSpPr txBox="1"/>
          <p:nvPr>
            <p:ph idx="11" type="ftr"/>
          </p:nvPr>
        </p:nvSpPr>
        <p:spPr>
          <a:xfrm>
            <a:off x="1055962" y="6453000"/>
            <a:ext cx="49692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r>
              <a:rPr lang="de-DE">
                <a:solidFill>
                  <a:srgbClr val="006EC7"/>
                </a:solidFill>
              </a:rPr>
              <a:t>Produktmanagement | adesso business consulting</a:t>
            </a:r>
            <a:endParaRPr/>
          </a:p>
        </p:txBody>
      </p:sp>
      <p:sp>
        <p:nvSpPr>
          <p:cNvPr id="278" name="Google Shape;278;p21"/>
          <p:cNvSpPr txBox="1"/>
          <p:nvPr>
            <p:ph idx="10" type="dt"/>
          </p:nvPr>
        </p:nvSpPr>
        <p:spPr>
          <a:xfrm>
            <a:off x="6493814" y="6453000"/>
            <a:ext cx="7201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r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13.10.2026</a:t>
            </a:r>
            <a:endParaRPr>
              <a:solidFill>
                <a:srgbClr val="006EC7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1072569" y="1226664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Onboarding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App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8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Teilnehmer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8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Bezug / Einspeiser</a:t>
            </a:r>
            <a:endParaRPr b="0" i="0" sz="8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3745992" y="2523744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Virtual Power Plant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6589957" y="2514600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EDM &amp; Komplexe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Abrechnung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8668512" y="2514600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Nebenbuch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10421112" y="2514600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Hauptbuch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84" name="Google Shape;284;p21"/>
          <p:cNvCxnSpPr>
            <a:stCxn id="285" idx="3"/>
            <a:endCxn id="280" idx="1"/>
          </p:cNvCxnSpPr>
          <p:nvPr/>
        </p:nvCxnSpPr>
        <p:spPr>
          <a:xfrm flipH="1" rot="10800000">
            <a:off x="2493391" y="3026634"/>
            <a:ext cx="1252500" cy="10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86" name="Google Shape;286;p21"/>
          <p:cNvCxnSpPr>
            <a:stCxn id="280" idx="3"/>
            <a:endCxn id="281" idx="1"/>
          </p:cNvCxnSpPr>
          <p:nvPr/>
        </p:nvCxnSpPr>
        <p:spPr>
          <a:xfrm flipH="1" rot="10800000">
            <a:off x="5181600" y="3017664"/>
            <a:ext cx="1408500" cy="9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87" name="Google Shape;287;p21"/>
          <p:cNvCxnSpPr>
            <a:stCxn id="281" idx="3"/>
          </p:cNvCxnSpPr>
          <p:nvPr/>
        </p:nvCxnSpPr>
        <p:spPr>
          <a:xfrm>
            <a:off x="8025565" y="3017520"/>
            <a:ext cx="5607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88" name="Google Shape;288;p21"/>
          <p:cNvCxnSpPr>
            <a:stCxn id="282" idx="3"/>
            <a:endCxn id="283" idx="1"/>
          </p:cNvCxnSpPr>
          <p:nvPr/>
        </p:nvCxnSpPr>
        <p:spPr>
          <a:xfrm>
            <a:off x="10104120" y="3017520"/>
            <a:ext cx="3171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89" name="Google Shape;289;p21"/>
          <p:cNvSpPr/>
          <p:nvPr/>
        </p:nvSpPr>
        <p:spPr>
          <a:xfrm>
            <a:off x="10416837" y="1025244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Zahlungs-verkehr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90" name="Google Shape;290;p21"/>
          <p:cNvCxnSpPr>
            <a:stCxn id="282" idx="0"/>
            <a:endCxn id="289" idx="1"/>
          </p:cNvCxnSpPr>
          <p:nvPr/>
        </p:nvCxnSpPr>
        <p:spPr>
          <a:xfrm rot="-5400000">
            <a:off x="9408366" y="1506150"/>
            <a:ext cx="986400" cy="1030500"/>
          </a:xfrm>
          <a:prstGeom prst="bentConnector2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91" name="Google Shape;291;p21"/>
          <p:cNvCxnSpPr>
            <a:stCxn id="283" idx="0"/>
            <a:endCxn id="289" idx="2"/>
          </p:cNvCxnSpPr>
          <p:nvPr/>
        </p:nvCxnSpPr>
        <p:spPr>
          <a:xfrm rot="10800000">
            <a:off x="11134716" y="2031000"/>
            <a:ext cx="4200" cy="4836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92" name="Google Shape;292;p21"/>
          <p:cNvSpPr/>
          <p:nvPr/>
        </p:nvSpPr>
        <p:spPr>
          <a:xfrm>
            <a:off x="1058950" y="3977640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MaKo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2867938" y="3968496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Fernwirkung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94" name="Google Shape;294;p21"/>
          <p:cNvCxnSpPr>
            <a:stCxn id="280" idx="2"/>
            <a:endCxn id="293" idx="0"/>
          </p:cNvCxnSpPr>
          <p:nvPr/>
        </p:nvCxnSpPr>
        <p:spPr>
          <a:xfrm rot="5400000">
            <a:off x="3805296" y="3309984"/>
            <a:ext cx="438900" cy="878100"/>
          </a:xfrm>
          <a:prstGeom prst="bentConnector3">
            <a:avLst>
              <a:gd fmla="val 50001" name="adj1"/>
            </a:avLst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95" name="Google Shape;295;p21"/>
          <p:cNvSpPr/>
          <p:nvPr/>
        </p:nvSpPr>
        <p:spPr>
          <a:xfrm>
            <a:off x="6589957" y="1132812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Bezugs-abrechnung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96" name="Google Shape;296;p21"/>
          <p:cNvCxnSpPr>
            <a:stCxn id="295" idx="3"/>
            <a:endCxn id="282" idx="1"/>
          </p:cNvCxnSpPr>
          <p:nvPr/>
        </p:nvCxnSpPr>
        <p:spPr>
          <a:xfrm>
            <a:off x="8025565" y="1635732"/>
            <a:ext cx="642900" cy="1381800"/>
          </a:xfrm>
          <a:prstGeom prst="bentConnector3">
            <a:avLst>
              <a:gd fmla="val 50004" name="adj1"/>
            </a:avLst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97" name="Google Shape;297;p21"/>
          <p:cNvSpPr/>
          <p:nvPr/>
        </p:nvSpPr>
        <p:spPr>
          <a:xfrm>
            <a:off x="9703605" y="6159276"/>
            <a:ext cx="1307592" cy="483264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SAP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8243316" y="6159276"/>
            <a:ext cx="1307592" cy="483264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Lumenaza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299" name="Google Shape;299;p21"/>
          <p:cNvCxnSpPr>
            <a:stCxn id="292" idx="2"/>
            <a:endCxn id="300" idx="0"/>
          </p:cNvCxnSpPr>
          <p:nvPr/>
        </p:nvCxnSpPr>
        <p:spPr>
          <a:xfrm>
            <a:off x="1776754" y="4983480"/>
            <a:ext cx="13500" cy="2469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01" name="Google Shape;301;p21"/>
          <p:cNvSpPr/>
          <p:nvPr/>
        </p:nvSpPr>
        <p:spPr>
          <a:xfrm>
            <a:off x="4666005" y="5230476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Community App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02" name="Google Shape;302;p21"/>
          <p:cNvCxnSpPr>
            <a:stCxn id="280" idx="2"/>
            <a:endCxn id="303" idx="0"/>
          </p:cNvCxnSpPr>
          <p:nvPr/>
        </p:nvCxnSpPr>
        <p:spPr>
          <a:xfrm flipH="1" rot="-5400000">
            <a:off x="4707846" y="3285534"/>
            <a:ext cx="423000" cy="911100"/>
          </a:xfrm>
          <a:prstGeom prst="bentConnector3">
            <a:avLst>
              <a:gd fmla="val 50003" name="adj1"/>
            </a:avLst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04" name="Google Shape;304;p21"/>
          <p:cNvCxnSpPr>
            <a:stCxn id="281" idx="2"/>
            <a:endCxn id="301" idx="3"/>
          </p:cNvCxnSpPr>
          <p:nvPr/>
        </p:nvCxnSpPr>
        <p:spPr>
          <a:xfrm rot="5400000">
            <a:off x="5598211" y="4023990"/>
            <a:ext cx="2213100" cy="1206000"/>
          </a:xfrm>
          <a:prstGeom prst="bentConnector2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05" name="Google Shape;305;p21"/>
          <p:cNvCxnSpPr>
            <a:stCxn id="282" idx="2"/>
            <a:endCxn id="301" idx="3"/>
          </p:cNvCxnSpPr>
          <p:nvPr/>
        </p:nvCxnSpPr>
        <p:spPr>
          <a:xfrm rot="5400000">
            <a:off x="6637416" y="2984640"/>
            <a:ext cx="2213100" cy="3284700"/>
          </a:xfrm>
          <a:prstGeom prst="bentConnector2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06" name="Google Shape;306;p21"/>
          <p:cNvSpPr/>
          <p:nvPr/>
        </p:nvSpPr>
        <p:spPr>
          <a:xfrm>
            <a:off x="623640" y="1396908"/>
            <a:ext cx="766479" cy="858420"/>
          </a:xfrm>
          <a:prstGeom prst="irregularSeal1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MVP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4282765" y="5784120"/>
            <a:ext cx="766479" cy="858420"/>
          </a:xfrm>
          <a:prstGeom prst="irregularSeal1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MVP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1057783" y="2533914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Onboarding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App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8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Betreiber</a:t>
            </a:r>
            <a:endParaRPr b="0" i="0" sz="8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08" name="Google Shape;308;p21"/>
          <p:cNvCxnSpPr>
            <a:stCxn id="279" idx="2"/>
            <a:endCxn id="285" idx="0"/>
          </p:cNvCxnSpPr>
          <p:nvPr/>
        </p:nvCxnSpPr>
        <p:spPr>
          <a:xfrm flipH="1">
            <a:off x="1775673" y="2232504"/>
            <a:ext cx="14700" cy="3015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09" name="Google Shape;309;p21"/>
          <p:cNvSpPr/>
          <p:nvPr/>
        </p:nvSpPr>
        <p:spPr>
          <a:xfrm>
            <a:off x="500126" y="2642733"/>
            <a:ext cx="766479" cy="858420"/>
          </a:xfrm>
          <a:prstGeom prst="irregularSeal1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MVP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1072569" y="5230476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Alt-Lieferant</a:t>
            </a:r>
            <a:endParaRPr b="0" i="0" sz="8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10" name="Google Shape;310;p21"/>
          <p:cNvCxnSpPr>
            <a:stCxn id="285" idx="2"/>
            <a:endCxn id="292" idx="0"/>
          </p:cNvCxnSpPr>
          <p:nvPr/>
        </p:nvCxnSpPr>
        <p:spPr>
          <a:xfrm>
            <a:off x="1775587" y="3539754"/>
            <a:ext cx="1200" cy="438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11" name="Google Shape;311;p21"/>
          <p:cNvSpPr/>
          <p:nvPr/>
        </p:nvSpPr>
        <p:spPr>
          <a:xfrm>
            <a:off x="3738735" y="1226412"/>
            <a:ext cx="1435608" cy="100584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Trading Floor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4656996" y="3952609"/>
            <a:ext cx="1435608" cy="1005840"/>
          </a:xfrm>
          <a:prstGeom prst="roundRect">
            <a:avLst>
              <a:gd fmla="val 16667" name="adj"/>
            </a:avLst>
          </a:prstGeom>
          <a:solidFill>
            <a:srgbClr val="86A69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Abnehmer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Community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12" name="Google Shape;312;p21"/>
          <p:cNvCxnSpPr>
            <a:stCxn id="280" idx="0"/>
            <a:endCxn id="311" idx="2"/>
          </p:cNvCxnSpPr>
          <p:nvPr/>
        </p:nvCxnSpPr>
        <p:spPr>
          <a:xfrm rot="10800000">
            <a:off x="4456596" y="2232144"/>
            <a:ext cx="7200" cy="2916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13" name="Google Shape;313;p21"/>
          <p:cNvCxnSpPr>
            <a:stCxn id="303" idx="3"/>
            <a:endCxn id="281" idx="1"/>
          </p:cNvCxnSpPr>
          <p:nvPr/>
        </p:nvCxnSpPr>
        <p:spPr>
          <a:xfrm flipH="1" rot="10800000">
            <a:off x="6092604" y="3017629"/>
            <a:ext cx="497400" cy="1437900"/>
          </a:xfrm>
          <a:prstGeom prst="bentConnector3">
            <a:avLst>
              <a:gd fmla="val 49995" name="adj1"/>
            </a:avLst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14" name="Google Shape;314;p21"/>
          <p:cNvCxnSpPr>
            <a:stCxn id="303" idx="2"/>
            <a:endCxn id="301" idx="0"/>
          </p:cNvCxnSpPr>
          <p:nvPr/>
        </p:nvCxnSpPr>
        <p:spPr>
          <a:xfrm>
            <a:off x="5374800" y="4958449"/>
            <a:ext cx="9000" cy="2721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"/>
          <p:cNvSpPr txBox="1"/>
          <p:nvPr>
            <p:ph type="title"/>
          </p:nvPr>
        </p:nvSpPr>
        <p:spPr>
          <a:xfrm>
            <a:off x="1055962" y="512676"/>
            <a:ext cx="1073079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Fira Sans Condensed"/>
              <a:buNone/>
            </a:pPr>
            <a:r>
              <a:rPr lang="de-DE">
                <a:solidFill>
                  <a:schemeClr val="accent6"/>
                </a:solidFill>
              </a:rPr>
              <a:t>Energy Sharing: Fachlicher Background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20" name="Google Shape;320;p22"/>
          <p:cNvSpPr txBox="1"/>
          <p:nvPr>
            <p:ph idx="12" type="sldNum"/>
          </p:nvPr>
        </p:nvSpPr>
        <p:spPr>
          <a:xfrm>
            <a:off x="408106" y="6453000"/>
            <a:ext cx="3600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fld id="{00000000-1234-1234-1234-123412341234}" type="slidenum"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>
              <a:solidFill>
                <a:srgbClr val="006EC7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1" name="Google Shape;321;p22"/>
          <p:cNvSpPr txBox="1"/>
          <p:nvPr>
            <p:ph idx="11" type="ftr"/>
          </p:nvPr>
        </p:nvSpPr>
        <p:spPr>
          <a:xfrm>
            <a:off x="1055962" y="6453000"/>
            <a:ext cx="49692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r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Produktmanagement | adesso business consulting</a:t>
            </a:r>
            <a:endParaRPr/>
          </a:p>
        </p:txBody>
      </p:sp>
      <p:sp>
        <p:nvSpPr>
          <p:cNvPr id="322" name="Google Shape;322;p22"/>
          <p:cNvSpPr txBox="1"/>
          <p:nvPr>
            <p:ph idx="10" type="dt"/>
          </p:nvPr>
        </p:nvSpPr>
        <p:spPr>
          <a:xfrm>
            <a:off x="6493814" y="6453000"/>
            <a:ext cx="7201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r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13.10.2026</a:t>
            </a:r>
            <a:endParaRPr>
              <a:solidFill>
                <a:srgbClr val="006EC7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23" name="Google Shape;3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4518" y="1225404"/>
            <a:ext cx="8718592" cy="4866191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3"/>
          <p:cNvSpPr txBox="1"/>
          <p:nvPr>
            <p:ph type="title"/>
          </p:nvPr>
        </p:nvSpPr>
        <p:spPr>
          <a:xfrm>
            <a:off x="1055962" y="512676"/>
            <a:ext cx="1073079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Fira Sans Condensed"/>
              <a:buNone/>
            </a:pPr>
            <a:r>
              <a:rPr lang="de-DE">
                <a:solidFill>
                  <a:schemeClr val="accent6"/>
                </a:solidFill>
              </a:rPr>
              <a:t>Energy Sharing: Techn. &amp; vertragl. Ausgestaltung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29" name="Google Shape;329;p23"/>
          <p:cNvSpPr txBox="1"/>
          <p:nvPr>
            <p:ph idx="12" type="sldNum"/>
          </p:nvPr>
        </p:nvSpPr>
        <p:spPr>
          <a:xfrm>
            <a:off x="408106" y="6453000"/>
            <a:ext cx="3600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fld id="{00000000-1234-1234-1234-123412341234}" type="slidenum"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>
              <a:solidFill>
                <a:srgbClr val="006EC7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0" name="Google Shape;330;p23"/>
          <p:cNvSpPr txBox="1"/>
          <p:nvPr>
            <p:ph idx="11" type="ftr"/>
          </p:nvPr>
        </p:nvSpPr>
        <p:spPr>
          <a:xfrm>
            <a:off x="1055962" y="6453000"/>
            <a:ext cx="49692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r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Produktmanagement | adesso business consulting</a:t>
            </a:r>
            <a:endParaRPr/>
          </a:p>
        </p:txBody>
      </p:sp>
      <p:sp>
        <p:nvSpPr>
          <p:cNvPr id="331" name="Google Shape;331;p23"/>
          <p:cNvSpPr txBox="1"/>
          <p:nvPr>
            <p:ph idx="10" type="dt"/>
          </p:nvPr>
        </p:nvSpPr>
        <p:spPr>
          <a:xfrm>
            <a:off x="6493814" y="6453000"/>
            <a:ext cx="7201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r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13.10.2026</a:t>
            </a:r>
            <a:endParaRPr>
              <a:solidFill>
                <a:srgbClr val="006EC7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2" name="Google Shape;332;p23"/>
          <p:cNvSpPr txBox="1"/>
          <p:nvPr/>
        </p:nvSpPr>
        <p:spPr>
          <a:xfrm>
            <a:off x="1093852" y="1152956"/>
            <a:ext cx="10180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93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b="0" i="0" lang="de-D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Intelligente Messsysteme (iMSys): Sowohl an der Erzeugungsanlage als auch an allen teilnehmenden Verbrauchsstellen sind Smart Meter Pflicht. Nur so lassen sich Erzeugung und Verbrauch viertelstundengenau erfassen und bilanziell einander zuordnen. </a:t>
            </a:r>
            <a:endParaRPr/>
          </a:p>
          <a:p>
            <a:pPr indent="-523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3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b="0" i="0" lang="de-D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Aufteilungsschlüssel &amp; Lieferverträge: Der erzeugte Strom wird nach einem vertraglich vereinbarten Aufteilungsschlüssel auf die Sharing-Teilnehmer aufgeteilt. </a:t>
            </a:r>
            <a:endParaRPr/>
          </a:p>
          <a:p>
            <a:pPr indent="-523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3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b="0" i="0" lang="de-D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Reststromversorgung: Da Energy Sharing in der Regel keine 100%ige Abdeckung bietet, beziehen die Teilnehmer ihren verbleibenden Strombedarf („Reststrom“) über einen frei wählbaren Reststromlieferanten. </a:t>
            </a:r>
            <a:endParaRPr/>
          </a:p>
          <a:p>
            <a:pPr indent="-523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3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b="0" i="0" lang="de-D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Direktvermarktung von Überschüssen: Die Erzeugungsanlage nimmt an der Direktvermarktung teil. Strommengen, die nicht durch die Sharing-Gemeinschaft verbraucht werden, werden über einen Direktvermarkter abgewickelt. </a:t>
            </a:r>
            <a:endParaRPr/>
          </a:p>
          <a:p>
            <a:pPr indent="-523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3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b="0" i="0" lang="de-D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Energy Sharing funktioniert sehr ähnlich wie Mieterstrom und Quartierslösungen.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23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4"/>
          <p:cNvSpPr txBox="1"/>
          <p:nvPr>
            <p:ph type="title"/>
          </p:nvPr>
        </p:nvSpPr>
        <p:spPr>
          <a:xfrm>
            <a:off x="1055962" y="512676"/>
            <a:ext cx="10730794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Fira Sans Condensed"/>
              <a:buNone/>
            </a:pPr>
            <a:r>
              <a:rPr lang="de-DE">
                <a:solidFill>
                  <a:schemeClr val="accent6"/>
                </a:solidFill>
              </a:rPr>
              <a:t>Wechsel MaLo in ein ruhendes Modell: Optionen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38" name="Google Shape;338;p24"/>
          <p:cNvSpPr txBox="1"/>
          <p:nvPr>
            <p:ph idx="12" type="sldNum"/>
          </p:nvPr>
        </p:nvSpPr>
        <p:spPr>
          <a:xfrm>
            <a:off x="408106" y="6453000"/>
            <a:ext cx="3600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fld id="{00000000-1234-1234-1234-123412341234}" type="slidenum"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‹#›</a:t>
            </a:fld>
            <a:endParaRPr>
              <a:solidFill>
                <a:srgbClr val="006EC7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9" name="Google Shape;339;p24"/>
          <p:cNvSpPr txBox="1"/>
          <p:nvPr>
            <p:ph idx="11" type="ftr"/>
          </p:nvPr>
        </p:nvSpPr>
        <p:spPr>
          <a:xfrm>
            <a:off x="1055962" y="6453000"/>
            <a:ext cx="4969294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r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Produktmanagement | adesso business consulting</a:t>
            </a:r>
            <a:endParaRPr/>
          </a:p>
        </p:txBody>
      </p:sp>
      <p:sp>
        <p:nvSpPr>
          <p:cNvPr id="340" name="Google Shape;340;p24"/>
          <p:cNvSpPr txBox="1"/>
          <p:nvPr>
            <p:ph idx="10" type="dt"/>
          </p:nvPr>
        </p:nvSpPr>
        <p:spPr>
          <a:xfrm>
            <a:off x="6493814" y="6453000"/>
            <a:ext cx="720188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6EC7"/>
              </a:buClr>
              <a:buSzPts val="900"/>
              <a:buFont typeface="Fira Sans"/>
              <a:buNone/>
            </a:pPr>
            <a:r>
              <a:rPr lang="de-DE">
                <a:solidFill>
                  <a:srgbClr val="006EC7"/>
                </a:solidFill>
                <a:latin typeface="Fira Sans"/>
                <a:ea typeface="Fira Sans"/>
                <a:cs typeface="Fira Sans"/>
                <a:sym typeface="Fira Sans"/>
              </a:rPr>
              <a:t>13.10.2026</a:t>
            </a:r>
            <a:endParaRPr>
              <a:solidFill>
                <a:srgbClr val="006EC7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1115568" y="1213010"/>
            <a:ext cx="4627556" cy="4431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b="0" i="0" lang="de-DE" sz="16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Umsetzung Modell „Stilllegung“: Die bestehende MaLo des Mieters wird systemisch beendet und erhält ein systemseitiges „Bis-Datum“. Der physische Zähler verbleibt im Feld, verliert aber seine direkte Markt-Zuordnung.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b="0" i="0" lang="de-DE" sz="16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Umsetzung Modell „Ruhende MaLo“: Die MaLo bleibt mit ihrer ID im System aktiv, wird jedoch über Einträge im Zählpunkt-Kopf auf „ruhend“ gestellt.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b="0" i="0" lang="de-DE" sz="16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Umsetzung Modell „Ausbau des Gerätes im Netzsystem“: </a:t>
            </a:r>
            <a:r>
              <a:rPr b="0" i="0" lang="de-DE" sz="16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Der Zähler wird im SAP-System über die Standardtransaktionen vollständig ausgebaut.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b="0" i="0" lang="de-DE" sz="16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Empfehlung: Umsetzung ruhende MaLo kombiniert mit Abrechnungssperre der betroffenen Anlagen/MaLo‘s</a:t>
            </a:r>
            <a:endParaRPr/>
          </a:p>
        </p:txBody>
      </p:sp>
      <p:graphicFrame>
        <p:nvGraphicFramePr>
          <p:cNvPr id="342" name="Google Shape;342;p24"/>
          <p:cNvGraphicFramePr/>
          <p:nvPr/>
        </p:nvGraphicFramePr>
        <p:xfrm>
          <a:off x="5892473" y="14939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{EDDA1FDB-DC14-4C0F-8C61-565A1AC76FD4}</a:tableStyleId>
              </a:tblPr>
              <a:tblGrid>
                <a:gridCol w="1503150"/>
                <a:gridCol w="1503150"/>
                <a:gridCol w="1503150"/>
                <a:gridCol w="1503150"/>
              </a:tblGrid>
              <a:tr h="8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Fira Sans"/>
                        <a:buNone/>
                      </a:pPr>
                      <a:r>
                        <a:rPr b="1" i="0" lang="de-DE" sz="11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Kriterium</a:t>
                      </a:r>
                      <a:endParaRPr/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Fira Sans"/>
                        <a:buNone/>
                      </a:pPr>
                      <a:r>
                        <a:rPr b="1" i="0" lang="de-DE" sz="11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(1) Stilllegung der MaLo</a:t>
                      </a:r>
                      <a:endParaRPr b="1" i="0" sz="1100" u="none" cap="none" strike="noStrike">
                        <a:solidFill>
                          <a:schemeClr val="lt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Fira Sans"/>
                        <a:buNone/>
                      </a:pPr>
                      <a:r>
                        <a:rPr b="1" i="0" lang="de-DE" sz="11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(2) Ruhende MaLo</a:t>
                      </a:r>
                      <a:endParaRPr/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Fira Sans"/>
                        <a:buNone/>
                      </a:pPr>
                      <a:r>
                        <a:rPr b="1" i="0" lang="de-DE" sz="1100" u="none" cap="none" strike="noStrike">
                          <a:solidFill>
                            <a:schemeClr val="lt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(3) Ausbau des Gerätes</a:t>
                      </a:r>
                      <a:endParaRPr/>
                    </a:p>
                  </a:txBody>
                  <a:tcPr marT="4775" marB="0" marR="4775" marL="4775" anchor="ctr"/>
                </a:tc>
              </a:tr>
              <a:tr h="8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Fira Sans"/>
                        <a:buNone/>
                      </a:pPr>
                      <a:r>
                        <a:rPr b="0" i="0" lang="de-DE" sz="1100" u="none" cap="none" strike="noStrike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MaKo-Schutz</a:t>
                      </a:r>
                      <a:endParaRPr/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Fira Sans"/>
                        <a:buNone/>
                      </a:pPr>
                      <a:r>
                        <a:rPr b="0" i="0" lang="de-DE" sz="1100" u="none" cap="none" strike="noStrike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Sehr hoch (ID existiert im Markt nicht mehr)</a:t>
                      </a:r>
                      <a:endParaRPr/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Fira Sans"/>
                        <a:buNone/>
                      </a:pPr>
                      <a:r>
                        <a:rPr b="0" i="0" lang="de-DE" sz="1100" u="none" cap="none" strike="noStrike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Hoch (Automatisierte Ablehnungen greifen)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Fira Sans"/>
                        <a:buNone/>
                      </a:pPr>
                      <a:r>
                        <a:rPr b="0" i="0" lang="de-DE" sz="800" u="none" cap="none" strike="noStrike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Erfahrungswert: Einzelne Probleme mit INOICE, daher ggf. Abrechnungssperre für betroffene Anlagen sinnvoll</a:t>
                      </a:r>
                      <a:endParaRPr/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Fira Sans"/>
                        <a:buNone/>
                      </a:pPr>
                      <a:r>
                        <a:rPr b="0" i="0" lang="de-DE" sz="1100" u="none" cap="none" strike="noStrike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Sehr hoch (Kein Zähler = keine Messung)</a:t>
                      </a:r>
                      <a:endParaRPr/>
                    </a:p>
                  </a:txBody>
                  <a:tcPr marT="4775" marB="0" marR="4775" marL="4775" anchor="ctr"/>
                </a:tc>
              </a:tr>
              <a:tr h="8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Fira Sans"/>
                        <a:buNone/>
                      </a:pPr>
                      <a:r>
                        <a:rPr b="0" i="0" lang="de-DE" sz="1100" u="none" cap="none" strike="noStrike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Mieter-Auszug (Flexibilität)</a:t>
                      </a:r>
                      <a:endParaRPr/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Fira Sans"/>
                        <a:buNone/>
                      </a:pPr>
                      <a:r>
                        <a:rPr b="0" i="0" lang="de-DE" sz="1100" u="none" cap="none" strike="noStrike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Schlecht (Neue MaLo-ID zwingend erforderlich)</a:t>
                      </a:r>
                      <a:endParaRPr/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Fira Sans"/>
                        <a:buNone/>
                      </a:pPr>
                      <a:r>
                        <a:rPr b="0" i="0" lang="de-DE" sz="1100" u="none" cap="none" strike="noStrike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Sehr gut (Reaktivierung per MaKo-Standard)</a:t>
                      </a:r>
                      <a:endParaRPr/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Fira Sans"/>
                        <a:buNone/>
                      </a:pPr>
                      <a:r>
                        <a:rPr b="0" i="0" lang="de-DE" sz="1100" u="none" cap="none" strike="noStrike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Schlecht (Logischer Neueinbau nötig)</a:t>
                      </a:r>
                      <a:endParaRPr/>
                    </a:p>
                  </a:txBody>
                  <a:tcPr marT="4775" marB="0" marR="4775" marL="4775" anchor="ctr"/>
                </a:tc>
              </a:tr>
              <a:tr h="8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Fira Sans"/>
                        <a:buNone/>
                      </a:pPr>
                      <a:r>
                        <a:rPr b="0" i="0" lang="de-DE" sz="1100" u="none" cap="none" strike="noStrike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Stammdaten-Aufwand</a:t>
                      </a:r>
                      <a:endParaRPr/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Fira Sans"/>
                        <a:buNone/>
                      </a:pPr>
                      <a:r>
                        <a:rPr b="0" i="0" lang="de-DE" sz="1100" u="none" cap="none" strike="noStrike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Hoch (Neuanlage bei Rückbau nötig)</a:t>
                      </a:r>
                      <a:endParaRPr/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Fira Sans"/>
                        <a:buNone/>
                      </a:pPr>
                      <a:r>
                        <a:rPr b="0" i="0" lang="de-DE" sz="1100" u="none" cap="none" strike="noStrike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Gering (Einmalige Statusänderung)</a:t>
                      </a:r>
                      <a:endParaRPr/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Fira Sans"/>
                        <a:buNone/>
                      </a:pPr>
                      <a:r>
                        <a:rPr b="0" i="0" lang="de-DE" sz="1100" u="none" cap="none" strike="noStrike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Sehr hoch (Gerätebewegung im System)</a:t>
                      </a:r>
                      <a:endParaRPr/>
                    </a:p>
                  </a:txBody>
                  <a:tcPr marT="4775" marB="0" marR="4775" marL="4775" anchor="ctr"/>
                </a:tc>
              </a:tr>
              <a:tr h="8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Fira Sans"/>
                        <a:buNone/>
                      </a:pPr>
                      <a:r>
                        <a:rPr b="0" i="0" lang="de-DE" sz="1100" u="none" cap="none" strike="noStrike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Historien-Erhalt</a:t>
                      </a:r>
                      <a:endParaRPr/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Fira Sans"/>
                        <a:buNone/>
                      </a:pPr>
                      <a:r>
                        <a:rPr b="0" i="0" lang="de-DE" sz="1100" u="none" cap="none" strike="noStrike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Eingeschränkt (Lebenszyklus beendet)</a:t>
                      </a:r>
                      <a:endParaRPr/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Fira Sans"/>
                        <a:buNone/>
                      </a:pPr>
                      <a:r>
                        <a:rPr b="0" i="0" lang="de-DE" sz="1100" u="none" cap="none" strike="noStrike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Vollständig vorhanden</a:t>
                      </a:r>
                      <a:endParaRPr/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Fira Sans"/>
                        <a:buNone/>
                      </a:pPr>
                      <a:r>
                        <a:rPr b="0" i="0" lang="de-DE" sz="1100" u="none" cap="none" strike="noStrike">
                          <a:solidFill>
                            <a:srgbClr val="000000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Vorhanden (aber Gerätehistorie zerschlagen)</a:t>
                      </a:r>
                      <a:endParaRPr/>
                    </a:p>
                  </a:txBody>
                  <a:tcPr marT="4775" marB="0" marR="4775" marL="4775" anchor="ctr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Larissa">
  <a:themeElements>
    <a:clrScheme name="Quanto">
      <a:dk1>
        <a:srgbClr val="000000"/>
      </a:dk1>
      <a:lt1>
        <a:srgbClr val="FFFFFF"/>
      </a:lt1>
      <a:dk2>
        <a:srgbClr val="414141"/>
      </a:dk2>
      <a:lt2>
        <a:srgbClr val="40BFF0"/>
      </a:lt2>
      <a:accent1>
        <a:srgbClr val="40BFF0"/>
      </a:accent1>
      <a:accent2>
        <a:srgbClr val="EF7C00"/>
      </a:accent2>
      <a:accent3>
        <a:srgbClr val="941880"/>
      </a:accent3>
      <a:accent4>
        <a:srgbClr val="414141"/>
      </a:accent4>
      <a:accent5>
        <a:srgbClr val="A0A0A0"/>
      </a:accent5>
      <a:accent6>
        <a:srgbClr val="CBCBCB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adesso Master">
  <a:themeElements>
    <a:clrScheme name="Grü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